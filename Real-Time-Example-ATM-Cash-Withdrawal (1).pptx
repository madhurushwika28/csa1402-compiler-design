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6" r:id="rId13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DM Sans Bold" panose="020B0604020202020204" charset="0"/>
      <p:regular r:id="rId23"/>
    </p:embeddedFont>
    <p:embeddedFont>
      <p:font typeface="DM Sans Light" panose="020B0604020202020204" charset="0"/>
      <p:regular r:id="rId24"/>
    </p:embeddedFont>
    <p:embeddedFont>
      <p:font typeface="DM Sans Medium" panose="020B0604020202020204" charset="0"/>
      <p:regular r:id="rId25"/>
    </p:embeddedFont>
    <p:embeddedFont>
      <p:font typeface="Inter" panose="020B0604020202020204" charset="0"/>
      <p:regular r:id="rId26"/>
    </p:embeddedFont>
    <p:embeddedFont>
      <p:font typeface="Inter Bold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F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554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562023-EB28-4CB1-B9E1-09E0175E1F79}"/>
              </a:ext>
            </a:extLst>
          </p:cNvPr>
          <p:cNvSpPr/>
          <p:nvPr/>
        </p:nvSpPr>
        <p:spPr>
          <a:xfrm>
            <a:off x="1204686" y="1265903"/>
            <a:ext cx="6350000" cy="661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dirty="0">
                <a:solidFill>
                  <a:srgbClr val="28282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Compiler Phases Explained Through a Familiar Analogy</a:t>
            </a:r>
            <a:endParaRPr lang="en-US" dirty="0"/>
          </a:p>
          <a:p>
            <a:pPr algn="ctr">
              <a:lnSpc>
                <a:spcPct val="104000"/>
              </a:lnSpc>
            </a:pPr>
            <a:r>
              <a:rPr lang="en-US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Example: ATM Cash Withdrawal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EA5DEF-0365-42F2-9DB4-80E22963E2F4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70975E-4ABF-46A9-B964-466FF3EA5A30}"/>
              </a:ext>
            </a:extLst>
          </p:cNvPr>
          <p:cNvSpPr/>
          <p:nvPr/>
        </p:nvSpPr>
        <p:spPr>
          <a:xfrm>
            <a:off x="-304801" y="3643085"/>
            <a:ext cx="45429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dirty="0"/>
              <a:t>Course Faculty: Dr </a:t>
            </a:r>
            <a:r>
              <a:rPr lang="en-US" dirty="0" err="1"/>
              <a:t>N.Deepa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91BF9F-B9C1-487B-A343-1768DE6C1AA7}"/>
              </a:ext>
            </a:extLst>
          </p:cNvPr>
          <p:cNvSpPr/>
          <p:nvPr/>
        </p:nvSpPr>
        <p:spPr>
          <a:xfrm>
            <a:off x="4136571" y="3581579"/>
            <a:ext cx="45429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4000"/>
              </a:lnSpc>
            </a:pP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E51B4-F042-44C1-8110-DBDE75C856D9}"/>
              </a:ext>
            </a:extLst>
          </p:cNvPr>
          <p:cNvSpPr/>
          <p:nvPr/>
        </p:nvSpPr>
        <p:spPr>
          <a:xfrm>
            <a:off x="3897084" y="3319275"/>
            <a:ext cx="4542971" cy="657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dirty="0"/>
              <a:t>Presented by:</a:t>
            </a:r>
          </a:p>
          <a:p>
            <a:pPr algn="ctr">
              <a:lnSpc>
                <a:spcPct val="104000"/>
              </a:lnSpc>
            </a:pPr>
            <a:r>
              <a:rPr lang="en-US" dirty="0" err="1"/>
              <a:t>M.Madhu</a:t>
            </a:r>
            <a:r>
              <a:rPr lang="en-US" dirty="0"/>
              <a:t> Rushwika(192371066)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2A432-F82F-4C1A-AE7A-B94859B4CC57}"/>
              </a:ext>
            </a:extLst>
          </p:cNvPr>
          <p:cNvSpPr/>
          <p:nvPr/>
        </p:nvSpPr>
        <p:spPr>
          <a:xfrm>
            <a:off x="2075542" y="2163790"/>
            <a:ext cx="4542971" cy="373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4000"/>
              </a:lnSpc>
            </a:pPr>
            <a:r>
              <a:rPr lang="en-US" dirty="0"/>
              <a:t>CSA1402-Compiler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123642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705"/>
            <a:ext cx="815176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Real-Time Example: ATM Cash Withdrawal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688553"/>
            <a:ext cx="8151763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dirty="0">
                <a:solidFill>
                  <a:srgbClr val="28282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Compiler Phases Explained Through a Familiar Analogy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67519" y="902717"/>
            <a:ext cx="860896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compiler processes your program just like an ATM processes your transaction — through distinct, sequential phases. Each phase has a specific role, and the output of one becomes the input to the next.</a:t>
            </a:r>
            <a:endParaRPr lang="en-US" sz="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077144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902249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Semantic Analysis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309524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Syntax Analysis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229639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Lexical Analysis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3714" y="148938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Source Code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7519" y="4626322"/>
            <a:ext cx="860896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1000"/>
              </a:lnSpc>
              <a:buNone/>
            </a:pPr>
            <a:r>
              <a:rPr lang="en-US" sz="6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6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C17676-5B0E-476D-AC24-4EF9B452382B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6220"/>
            <a:ext cx="8151763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Scenario: User Request (Source Code)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96119" y="847279"/>
            <a:ext cx="815176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want to withdraw </a:t>
            </a:r>
            <a:r>
              <a:rPr lang="en-US" sz="8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₹5,000</a:t>
            </a: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an ATM. This everyday transaction mirrors exactly what happens when a programmer writes source code — a human-readable instruction that must be processed, validated, and executed by a machine.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43422" y="1243140"/>
            <a:ext cx="4098503" cy="3543970"/>
          </a:xfrm>
          <a:prstGeom prst="roundRect">
            <a:avLst>
              <a:gd name="adj" fmla="val 435"/>
            </a:avLst>
          </a:prstGeom>
          <a:solidFill>
            <a:srgbClr val="28282F"/>
          </a:solidFill>
          <a:ln/>
        </p:spPr>
      </p:sp>
      <p:sp>
        <p:nvSpPr>
          <p:cNvPr id="5" name="Text 3"/>
          <p:cNvSpPr/>
          <p:nvPr/>
        </p:nvSpPr>
        <p:spPr>
          <a:xfrm>
            <a:off x="524842" y="1328365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ATM Input Sequence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4842" y="1584573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4842" y="1744861"/>
            <a:ext cx="3893121" cy="14288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8" name="Text 6"/>
          <p:cNvSpPr/>
          <p:nvPr/>
        </p:nvSpPr>
        <p:spPr>
          <a:xfrm>
            <a:off x="524842" y="1824782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Insert ATM Card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4842" y="2070348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user to the system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4842" y="2382589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24842" y="2542877"/>
            <a:ext cx="3893121" cy="14288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2" name="Text 10"/>
          <p:cNvSpPr/>
          <p:nvPr/>
        </p:nvSpPr>
        <p:spPr>
          <a:xfrm>
            <a:off x="524842" y="2622798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Enter PIN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4842" y="2868364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 the user's identity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4842" y="3180606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4842" y="3340894"/>
            <a:ext cx="3893121" cy="14288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16" name="Text 14"/>
          <p:cNvSpPr/>
          <p:nvPr/>
        </p:nvSpPr>
        <p:spPr>
          <a:xfrm>
            <a:off x="524842" y="3420814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Select "Withdraw Cash"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4842" y="3666381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Specify the operation to perform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4842" y="3978622"/>
            <a:ext cx="205383" cy="1283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4842" y="4138910"/>
            <a:ext cx="3893121" cy="14288"/>
          </a:xfrm>
          <a:prstGeom prst="rect">
            <a:avLst/>
          </a:prstGeom>
          <a:solidFill>
            <a:srgbClr val="28282F"/>
          </a:solidFill>
          <a:ln/>
        </p:spPr>
      </p:sp>
      <p:sp>
        <p:nvSpPr>
          <p:cNvPr id="20" name="Text 18"/>
          <p:cNvSpPr/>
          <p:nvPr/>
        </p:nvSpPr>
        <p:spPr>
          <a:xfrm>
            <a:off x="524842" y="4218831"/>
            <a:ext cx="3893121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Enter ₹5,000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4842" y="4464397"/>
            <a:ext cx="3893121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the operand/value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02076" y="1328365"/>
            <a:ext cx="3950568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Compiler Equivalent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2076" y="1573932"/>
            <a:ext cx="3950568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programmer writes a single line of source code that encapsulates the entire request: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2076" y="1969963"/>
            <a:ext cx="3950568" cy="355550"/>
          </a:xfrm>
          <a:prstGeom prst="roundRect">
            <a:avLst>
              <a:gd name="adj" fmla="val 4334"/>
            </a:avLst>
          </a:prstGeom>
          <a:solidFill>
            <a:srgbClr val="ECEBE8"/>
          </a:solidFill>
          <a:ln/>
        </p:spPr>
      </p:sp>
      <p:sp>
        <p:nvSpPr>
          <p:cNvPr id="25" name="Shape 23"/>
          <p:cNvSpPr/>
          <p:nvPr/>
        </p:nvSpPr>
        <p:spPr>
          <a:xfrm>
            <a:off x="4696941" y="1969963"/>
            <a:ext cx="3960837" cy="355550"/>
          </a:xfrm>
          <a:prstGeom prst="roundRect">
            <a:avLst>
              <a:gd name="adj" fmla="val 4334"/>
            </a:avLst>
          </a:prstGeom>
          <a:solidFill>
            <a:srgbClr val="ECEBE8"/>
          </a:solidFill>
          <a:ln/>
        </p:spPr>
      </p:sp>
      <p:sp>
        <p:nvSpPr>
          <p:cNvPr id="26" name="Text 24"/>
          <p:cNvSpPr/>
          <p:nvPr/>
        </p:nvSpPr>
        <p:spPr>
          <a:xfrm>
            <a:off x="4825305" y="2072655"/>
            <a:ext cx="4161309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E36209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withdraw(5000);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702076" y="2421210"/>
            <a:ext cx="3950568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source code, like the ATM input, must pass through multiple phases before any action is taken. The compiler — like the ATM — does not execute blindly. It validates, transforms, and optimizes before producing a result.</a:t>
            </a:r>
            <a:endParaRPr lang="en-US" sz="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6F35D2-2E56-4B9A-A70B-6BDB09F5DE4D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4097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1 – Lexical Analysis (Tokenization)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1002357"/>
            <a:ext cx="815176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phase of compilation — and the ATM's first action — is to break the input into its smallest meaningful units, called </a:t>
            </a:r>
            <a:r>
              <a:rPr lang="en-US" sz="9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tokens</a:t>
            </a: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lexical analyzer (or scanner) reads the source code character by character and groups them into recognized symbols.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628105"/>
            <a:ext cx="35069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ATM Checks Individual Inputs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1950430"/>
            <a:ext cx="180231" cy="18023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6569" y="1946746"/>
            <a:ext cx="3116535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Card Inserted </a:t>
            </a: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86569" y="2250877"/>
            <a:ext cx="311653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ATM recognizes a valid card as an identifier</a:t>
            </a:r>
            <a:endParaRPr lang="en-US" sz="9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2676562"/>
            <a:ext cx="180231" cy="1802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6569" y="2672879"/>
            <a:ext cx="3116535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PIN Entered </a:t>
            </a: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886569" y="2977009"/>
            <a:ext cx="311653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numeric value — treated as a number token</a:t>
            </a:r>
            <a:endParaRPr lang="en-US" sz="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3402695"/>
            <a:ext cx="180231" cy="18023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6569" y="3399011"/>
            <a:ext cx="3116535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Withdraw Option Selected </a:t>
            </a: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886569" y="3703141"/>
            <a:ext cx="311653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reserved operation — treated as a keyword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139" y="4128827"/>
            <a:ext cx="180231" cy="18023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86569" y="4125144"/>
            <a:ext cx="3116535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Amount Entered </a:t>
            </a:r>
            <a:r>
              <a:rPr lang="en-US" sz="11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886569" y="4429274"/>
            <a:ext cx="311653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₹5,000 — treated as a numeric constant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301058" y="1628105"/>
            <a:ext cx="4351511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ATM Input vs. Compiler Token Equivalent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301058" y="1946746"/>
            <a:ext cx="4351511" cy="1720379"/>
          </a:xfrm>
          <a:prstGeom prst="roundRect">
            <a:avLst>
              <a:gd name="adj" fmla="val 104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301058" y="2292251"/>
            <a:ext cx="4351511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4301058" y="2635374"/>
            <a:ext cx="4351511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4301058" y="2978497"/>
            <a:ext cx="4351511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4301058" y="3321621"/>
            <a:ext cx="4351511" cy="751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3" name="Text 17"/>
          <p:cNvSpPr/>
          <p:nvPr/>
        </p:nvSpPr>
        <p:spPr>
          <a:xfrm>
            <a:off x="4426000" y="2026072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ATM Input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6596955" y="2026072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Compiler Equivalent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426000" y="2369195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596955" y="2369195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426000" y="2712318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596955" y="2712318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Number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426000" y="3055441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Withdraw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596955" y="3055441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426000" y="3398565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₹5000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6596955" y="3398565"/>
            <a:ext cx="238794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301058" y="3798019"/>
            <a:ext cx="4351511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are treated as separate "tokens." The lexical analyzer does not check meaning or order — it only identifies and classifies each unit of input.</a:t>
            </a:r>
            <a:endParaRPr lang="en-US" sz="9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1A99D3-4CAE-44CC-858A-B962FF944549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6295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2 – Syntax Analysis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859929"/>
            <a:ext cx="8151763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tokens are identified, the </a:t>
            </a:r>
            <a:r>
              <a:rPr lang="en-US" sz="8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syntax analyzer (parser)</a:t>
            </a: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checks whether they appear in the correct grammatical order. This is analogous to the ATM verifying that operations are performed in the right sequence — you cannot enter an amount before inserting your card.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1356345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✔</a:t>
            </a: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Correct Sequence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19176"/>
            <a:ext cx="3948261" cy="7009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07481" y="1697682"/>
            <a:ext cx="125537" cy="156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5032" y="2037755"/>
            <a:ext cx="371043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Insert Card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08411"/>
            <a:ext cx="3948261" cy="7009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07481" y="2486918"/>
            <a:ext cx="125537" cy="156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15032" y="2826990"/>
            <a:ext cx="371043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Enter PIN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97647"/>
            <a:ext cx="3948261" cy="7009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07481" y="3276154"/>
            <a:ext cx="125537" cy="156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15032" y="3616226"/>
            <a:ext cx="371043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Choose Withdraw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986882"/>
            <a:ext cx="3948261" cy="7009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407481" y="4065389"/>
            <a:ext cx="125537" cy="1569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615032" y="4405461"/>
            <a:ext cx="3710434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Enter Amount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704383" y="1356345"/>
            <a:ext cx="3948261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Wrong Sequence → Error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4383" y="1619176"/>
            <a:ext cx="1930003" cy="8031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880446" y="1738089"/>
            <a:ext cx="163502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Enter Amount First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4880446" y="1989832"/>
            <a:ext cx="1635026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Attempting to enter ₹5,000 before inserting the card</a:t>
            </a:r>
            <a:endParaRPr lang="en-US" sz="8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2641" y="1619176"/>
            <a:ext cx="1930003" cy="80315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98704" y="1738089"/>
            <a:ext cx="1635026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Then Insert Card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6898704" y="1989832"/>
            <a:ext cx="1635026" cy="313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Error: Invalid operation — sequence violated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4704383" y="2521669"/>
            <a:ext cx="3948261" cy="4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Compiler:</a:t>
            </a: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Checks grammar rules (e.g., missing semicolons, unmatched brackets). </a:t>
            </a:r>
            <a:r>
              <a:rPr lang="en-US" sz="8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ATM:</a:t>
            </a: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Checks the order of operations. Both reject input that violates the expected structure.</a:t>
            </a:r>
            <a:endParaRPr lang="en-US" sz="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7AC0D7-724A-4DEB-A0F4-DC51643215E1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303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3 – Semantic Analysis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40730"/>
            <a:ext cx="815176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 being correct does not mean the request is </a:t>
            </a:r>
            <a:r>
              <a:rPr lang="en-US" sz="750" i="1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meaningful</a:t>
            </a: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</a:t>
            </a:r>
            <a:r>
              <a:rPr lang="en-US" sz="7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semantic analyzer</a:t>
            </a: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checks whether the program makes logical sense — just as the ATM verifies whether the transaction is actually valid beyond the correct sequence of steps.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292126"/>
            <a:ext cx="311601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ATM Semantic Checks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535088"/>
            <a:ext cx="3116014" cy="727323"/>
          </a:xfrm>
          <a:prstGeom prst="roundRect">
            <a:avLst>
              <a:gd name="adj" fmla="val 2039"/>
            </a:avLst>
          </a:prstGeom>
          <a:solidFill>
            <a:srgbClr val="EDEBE3"/>
          </a:solidFill>
          <a:ln/>
        </p:spPr>
      </p:sp>
      <p:sp>
        <p:nvSpPr>
          <p:cNvPr id="6" name="Shape 4"/>
          <p:cNvSpPr/>
          <p:nvPr/>
        </p:nvSpPr>
        <p:spPr>
          <a:xfrm>
            <a:off x="594940" y="1633910"/>
            <a:ext cx="296540" cy="296540"/>
          </a:xfrm>
          <a:prstGeom prst="ellipse">
            <a:avLst/>
          </a:prstGeom>
          <a:solidFill>
            <a:srgbClr val="28282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498" y="1715467"/>
            <a:ext cx="133424" cy="1334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940" y="2009180"/>
            <a:ext cx="29183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PIN Correct?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6119" y="2341141"/>
            <a:ext cx="3116014" cy="727323"/>
          </a:xfrm>
          <a:prstGeom prst="roundRect">
            <a:avLst>
              <a:gd name="adj" fmla="val 2039"/>
            </a:avLst>
          </a:prstGeom>
          <a:solidFill>
            <a:srgbClr val="EDEBE3"/>
          </a:solidFill>
          <a:ln/>
        </p:spPr>
      </p:sp>
      <p:sp>
        <p:nvSpPr>
          <p:cNvPr id="10" name="Shape 7"/>
          <p:cNvSpPr/>
          <p:nvPr/>
        </p:nvSpPr>
        <p:spPr>
          <a:xfrm>
            <a:off x="594940" y="2439963"/>
            <a:ext cx="296540" cy="296540"/>
          </a:xfrm>
          <a:prstGeom prst="ellipse">
            <a:avLst/>
          </a:prstGeom>
          <a:solidFill>
            <a:srgbClr val="28282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498" y="2521521"/>
            <a:ext cx="133424" cy="1334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940" y="2815233"/>
            <a:ext cx="29183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Account Active?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96119" y="3147194"/>
            <a:ext cx="3116014" cy="727323"/>
          </a:xfrm>
          <a:prstGeom prst="roundRect">
            <a:avLst>
              <a:gd name="adj" fmla="val 2039"/>
            </a:avLst>
          </a:prstGeom>
          <a:solidFill>
            <a:srgbClr val="EDEBE3"/>
          </a:solidFill>
          <a:ln/>
        </p:spPr>
      </p:sp>
      <p:sp>
        <p:nvSpPr>
          <p:cNvPr id="14" name="Shape 10"/>
          <p:cNvSpPr/>
          <p:nvPr/>
        </p:nvSpPr>
        <p:spPr>
          <a:xfrm>
            <a:off x="594940" y="3246016"/>
            <a:ext cx="296540" cy="296540"/>
          </a:xfrm>
          <a:prstGeom prst="ellipse">
            <a:avLst/>
          </a:prstGeom>
          <a:solidFill>
            <a:srgbClr val="28282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6498" y="3327574"/>
            <a:ext cx="133424" cy="1334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94940" y="3621286"/>
            <a:ext cx="29183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Sufficient Balance?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96119" y="3953247"/>
            <a:ext cx="3116014" cy="727323"/>
          </a:xfrm>
          <a:prstGeom prst="roundRect">
            <a:avLst>
              <a:gd name="adj" fmla="val 2039"/>
            </a:avLst>
          </a:prstGeom>
          <a:solidFill>
            <a:srgbClr val="EDEBE3"/>
          </a:solidFill>
          <a:ln/>
        </p:spPr>
      </p:sp>
      <p:sp>
        <p:nvSpPr>
          <p:cNvPr id="18" name="Shape 13"/>
          <p:cNvSpPr/>
          <p:nvPr/>
        </p:nvSpPr>
        <p:spPr>
          <a:xfrm>
            <a:off x="594940" y="4052069"/>
            <a:ext cx="296540" cy="296540"/>
          </a:xfrm>
          <a:prstGeom prst="ellipse">
            <a:avLst/>
          </a:prstGeom>
          <a:solidFill>
            <a:srgbClr val="28282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6498" y="4133627"/>
            <a:ext cx="133424" cy="1334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4940" y="4427339"/>
            <a:ext cx="2918371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Limit Exceeded?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3857997" y="1292126"/>
            <a:ext cx="4794572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Validation Examples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857997" y="1535088"/>
            <a:ext cx="4794572" cy="908893"/>
          </a:xfrm>
          <a:prstGeom prst="roundRect">
            <a:avLst>
              <a:gd name="adj" fmla="val 163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857997" y="1788319"/>
            <a:ext cx="4794572" cy="617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3857997" y="2043931"/>
            <a:ext cx="4794572" cy="617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5059189" y="1535088"/>
            <a:ext cx="6178" cy="90889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6255395" y="1535088"/>
            <a:ext cx="6178" cy="90889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1"/>
          <p:cNvSpPr/>
          <p:nvPr/>
        </p:nvSpPr>
        <p:spPr>
          <a:xfrm>
            <a:off x="7451601" y="1535088"/>
            <a:ext cx="6178" cy="90889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3961805" y="1591866"/>
            <a:ext cx="1453381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Scenario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5160392" y="1591866"/>
            <a:ext cx="1451000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Balance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6356598" y="1591866"/>
            <a:ext cx="1451000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Requested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7552804" y="1591866"/>
            <a:ext cx="1453381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</a:t>
            </a:r>
            <a:endParaRPr lang="en-US" sz="750" dirty="0"/>
          </a:p>
        </p:txBody>
      </p:sp>
      <p:sp>
        <p:nvSpPr>
          <p:cNvPr id="32" name="Text 26"/>
          <p:cNvSpPr/>
          <p:nvPr/>
        </p:nvSpPr>
        <p:spPr>
          <a:xfrm>
            <a:off x="3961805" y="1842715"/>
            <a:ext cx="1453381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 Transaction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5160392" y="1842715"/>
            <a:ext cx="1451000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₹20,000</a:t>
            </a:r>
            <a:endParaRPr lang="en-US" sz="750" dirty="0"/>
          </a:p>
        </p:txBody>
      </p:sp>
      <p:sp>
        <p:nvSpPr>
          <p:cNvPr id="34" name="Text 28"/>
          <p:cNvSpPr/>
          <p:nvPr/>
        </p:nvSpPr>
        <p:spPr>
          <a:xfrm>
            <a:off x="6356598" y="1842715"/>
            <a:ext cx="1451000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₹5,000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7552804" y="1842715"/>
            <a:ext cx="1453381" cy="14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✔</a:t>
            </a: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Approved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3961805" y="2098328"/>
            <a:ext cx="1453381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Insufficient Funds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5160392" y="2098328"/>
            <a:ext cx="1451000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₹3,000</a:t>
            </a:r>
            <a:endParaRPr lang="en-US" sz="750" dirty="0"/>
          </a:p>
        </p:txBody>
      </p:sp>
      <p:sp>
        <p:nvSpPr>
          <p:cNvPr id="38" name="Text 32"/>
          <p:cNvSpPr/>
          <p:nvPr/>
        </p:nvSpPr>
        <p:spPr>
          <a:xfrm>
            <a:off x="6356598" y="2098328"/>
            <a:ext cx="1451000" cy="142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₹5,000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7552804" y="2098328"/>
            <a:ext cx="996181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"Insufficient Balance"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3857997" y="2532534"/>
            <a:ext cx="4794572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Similarly, the compiler checks: Are variables declared before use? Are data types compatible? Is a function called with the correct number of arguments? Semantic errors are logically wrong even when syntactically correct.</a:t>
            </a:r>
            <a:endParaRPr lang="en-US" sz="75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EFB4522-B212-4A75-AEFC-D032EBBCF237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288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4 – Intermediate Code Generation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00743" y="994229"/>
            <a:ext cx="8147139" cy="365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 validation, both the ATM and the compiler prepare an </a:t>
            </a:r>
            <a:r>
              <a:rPr lang="en-US" sz="90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internal representation</a:t>
            </a: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the task — a platform-independent set of instructions that bridges the gap between the high-level request and the final machine-level execution.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598861"/>
            <a:ext cx="39316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ATM Internal Steps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6119" y="1910283"/>
            <a:ext cx="265956" cy="265956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6" name="Text 4"/>
          <p:cNvSpPr/>
          <p:nvPr/>
        </p:nvSpPr>
        <p:spPr>
          <a:xfrm>
            <a:off x="540432" y="1932422"/>
            <a:ext cx="177329" cy="2216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74737" y="1950913"/>
            <a:ext cx="355304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Verify Account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74737" y="2248272"/>
            <a:ext cx="355304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identity and account status internally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6119" y="2658294"/>
            <a:ext cx="265956" cy="265956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10" name="Text 8"/>
          <p:cNvSpPr/>
          <p:nvPr/>
        </p:nvSpPr>
        <p:spPr>
          <a:xfrm>
            <a:off x="540432" y="2680432"/>
            <a:ext cx="177329" cy="2216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4737" y="2698924"/>
            <a:ext cx="355304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Check Balance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74737" y="2996282"/>
            <a:ext cx="355304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the account balance from the banking 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3406304"/>
            <a:ext cx="265956" cy="265956"/>
          </a:xfrm>
          <a:prstGeom prst="roundRect">
            <a:avLst>
              <a:gd name="adj" fmla="val 6668"/>
            </a:avLst>
          </a:prstGeom>
          <a:solidFill>
            <a:srgbClr val="EDEBE3"/>
          </a:solidFill>
          <a:ln/>
        </p:spPr>
      </p:sp>
      <p:sp>
        <p:nvSpPr>
          <p:cNvPr id="14" name="Text 12"/>
          <p:cNvSpPr/>
          <p:nvPr/>
        </p:nvSpPr>
        <p:spPr>
          <a:xfrm>
            <a:off x="540432" y="3428442"/>
            <a:ext cx="177329" cy="2216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4737" y="3446934"/>
            <a:ext cx="355304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Reserve ₹5,000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4737" y="3744292"/>
            <a:ext cx="3553048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a hold on the funds before dispensing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20977" y="1598861"/>
            <a:ext cx="39316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Compiler Equivalent (Intermediate Code)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20977" y="1896219"/>
            <a:ext cx="4388867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compiler generates a simplified, abstract instruction set: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20977" y="2207642"/>
            <a:ext cx="3931667" cy="605730"/>
          </a:xfrm>
          <a:prstGeom prst="roundRect">
            <a:avLst>
              <a:gd name="adj" fmla="val 2928"/>
            </a:avLst>
          </a:prstGeom>
          <a:solidFill>
            <a:srgbClr val="ECEB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5098" y="2207642"/>
            <a:ext cx="3943424" cy="605730"/>
          </a:xfrm>
          <a:prstGeom prst="roundRect">
            <a:avLst>
              <a:gd name="adj" fmla="val 2928"/>
            </a:avLst>
          </a:prstGeom>
          <a:solidFill>
            <a:srgbClr val="ECEBE8"/>
          </a:solidFill>
          <a:ln/>
        </p:spPr>
      </p:sp>
      <p:sp>
        <p:nvSpPr>
          <p:cNvPr id="21" name="Text 19"/>
          <p:cNvSpPr/>
          <p:nvPr/>
        </p:nvSpPr>
        <p:spPr>
          <a:xfrm>
            <a:off x="4862885" y="2325812"/>
            <a:ext cx="3647852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t1 = checkBalance()</a:t>
            </a:r>
            <a:endParaRPr lang="en-US" sz="9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161613"/>
                </a:solidFill>
                <a:highlight>
                  <a:srgbClr val="ECEB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= true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20977" y="2940100"/>
            <a:ext cx="3931667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intermediate code is not yet machine code — it is a structured, language-independent representation that can later be optimized and translated. It makes the compiler portable across different hardware architectures.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20977" y="3805610"/>
            <a:ext cx="3931667" cy="815876"/>
          </a:xfrm>
          <a:prstGeom prst="roundRect">
            <a:avLst>
              <a:gd name="adj" fmla="val 2174"/>
            </a:avLst>
          </a:prstGeom>
          <a:solidFill>
            <a:srgbClr val="E3E3E8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146" y="3983236"/>
            <a:ext cx="147786" cy="11817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105102" y="3936504"/>
            <a:ext cx="3429372" cy="554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Intermediate code is like the ATM's internal transaction record — not the final action, but the prepared blueprint for it.</a:t>
            </a:r>
            <a:endParaRPr lang="en-US" sz="9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72B6C6-79BD-4C35-AE3D-09684106A9EE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395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5 – Optimization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89521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9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optimizer</a:t>
            </a: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improves the intermediate code by eliminating redundant operations, reducing execution time, and minimizing resource usage — without changing the program's output. The ATM analogy makes this intuitive: why check the balance twice when once is sufficient?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14840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Without Optimization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81783"/>
            <a:ext cx="1900312" cy="13835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2620045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1: Check Balance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3131716"/>
            <a:ext cx="156663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account balance from the banking server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0404" y="2481783"/>
            <a:ext cx="1900312" cy="13835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15816" y="2620045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2: Check Balance Again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15816" y="3131716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Redundant query — same result, wasted time and resources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728046" y="214840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With Optimization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28046" y="2481783"/>
            <a:ext cx="3924598" cy="764232"/>
          </a:xfrm>
          <a:prstGeom prst="roundRect">
            <a:avLst>
              <a:gd name="adj" fmla="val 2435"/>
            </a:avLst>
          </a:prstGeom>
          <a:solidFill>
            <a:srgbClr val="EDEBE3"/>
          </a:solidFill>
          <a:ln/>
        </p:spPr>
      </p:sp>
      <p:sp>
        <p:nvSpPr>
          <p:cNvPr id="13" name="Text 9"/>
          <p:cNvSpPr/>
          <p:nvPr/>
        </p:nvSpPr>
        <p:spPr>
          <a:xfrm>
            <a:off x="4852020" y="2605757"/>
            <a:ext cx="36766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Check Balance </a:t>
            </a:r>
            <a:r>
              <a:rPr lang="en-US" sz="1200" b="1" dirty="0">
                <a:solidFill>
                  <a:srgbClr val="1616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Once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52020" y="2923580"/>
            <a:ext cx="367665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query — result is reused wherever needed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728046" y="3385542"/>
            <a:ext cx="3924598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saves time — just like compiler optimization removes redundant or unnecessary instructions. Common optimization techniques include </a:t>
            </a:r>
            <a:r>
              <a:rPr lang="en-US" sz="9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constant folding</a:t>
            </a: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dead code elimination</a:t>
            </a: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9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loop unrolling</a:t>
            </a: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ATM equivalent is eliminating duplicate server calls during a single transaction.</a:t>
            </a:r>
            <a:endParaRPr lang="en-US" sz="9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C628B1-78D6-489D-944E-0E1F0E22E423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694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 6 – Code Generation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251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phase translates the optimized intermediate code into </a:t>
            </a:r>
            <a:r>
              <a:rPr lang="en-US" sz="9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code</a:t>
            </a: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actual instructions the hardware can execute. For the ATM, this is the moment of truth: cash is dispensed, the account is updated, and a receipt is printed.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71293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ATM Final Actions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0167" y="2232347"/>
            <a:ext cx="123974" cy="578123"/>
          </a:xfrm>
          <a:prstGeom prst="roundRect">
            <a:avLst>
              <a:gd name="adj" fmla="val 15009"/>
            </a:avLst>
          </a:prstGeom>
          <a:solidFill>
            <a:srgbClr val="EDEBE3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150938"/>
            <a:ext cx="372070" cy="372070"/>
          </a:xfrm>
          <a:prstGeom prst="ellipse">
            <a:avLst/>
          </a:prstGeom>
          <a:solidFill>
            <a:srgbClr val="EDEBE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9136" y="2243956"/>
            <a:ext cx="186035" cy="1860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2163" y="2170286"/>
            <a:ext cx="34285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Dispense ₹5,000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2163" y="2488109"/>
            <a:ext cx="342855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cash is released from the ATM vault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06202" y="3120554"/>
            <a:ext cx="123974" cy="578123"/>
          </a:xfrm>
          <a:prstGeom prst="roundRect">
            <a:avLst>
              <a:gd name="adj" fmla="val 15009"/>
            </a:avLst>
          </a:prstGeom>
          <a:solidFill>
            <a:srgbClr val="EDEBE3"/>
          </a:solidFill>
          <a:ln/>
        </p:spPr>
      </p:sp>
      <p:sp>
        <p:nvSpPr>
          <p:cNvPr id="11" name="Shape 8"/>
          <p:cNvSpPr/>
          <p:nvPr/>
        </p:nvSpPr>
        <p:spPr>
          <a:xfrm>
            <a:off x="682154" y="3039145"/>
            <a:ext cx="372070" cy="372070"/>
          </a:xfrm>
          <a:prstGeom prst="ellipse">
            <a:avLst/>
          </a:prstGeom>
          <a:solidFill>
            <a:srgbClr val="EDEBE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171" y="3132162"/>
            <a:ext cx="186035" cy="1860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78198" y="3058492"/>
            <a:ext cx="324251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Update Account Balance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78198" y="3376315"/>
            <a:ext cx="324251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bank's system deducts ₹5,000 from the account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992237" y="4008760"/>
            <a:ext cx="123974" cy="578123"/>
          </a:xfrm>
          <a:prstGeom prst="roundRect">
            <a:avLst>
              <a:gd name="adj" fmla="val 15009"/>
            </a:avLst>
          </a:prstGeom>
          <a:solidFill>
            <a:srgbClr val="EDEBE3"/>
          </a:solidFill>
          <a:ln/>
        </p:spPr>
      </p:sp>
      <p:sp>
        <p:nvSpPr>
          <p:cNvPr id="16" name="Shape 12"/>
          <p:cNvSpPr/>
          <p:nvPr/>
        </p:nvSpPr>
        <p:spPr>
          <a:xfrm>
            <a:off x="868189" y="3927351"/>
            <a:ext cx="372070" cy="372070"/>
          </a:xfrm>
          <a:prstGeom prst="ellipse">
            <a:avLst/>
          </a:prstGeom>
          <a:solidFill>
            <a:srgbClr val="EDEBE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206" y="4020369"/>
            <a:ext cx="186035" cy="1860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64233" y="3946699"/>
            <a:ext cx="30564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Print Receipt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364233" y="4264521"/>
            <a:ext cx="30564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record is generated for the user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728046" y="1712937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Compiler Equivalent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728046" y="2046312"/>
            <a:ext cx="1900312" cy="1751930"/>
          </a:xfrm>
          <a:prstGeom prst="roundRect">
            <a:avLst>
              <a:gd name="adj" fmla="val 1062"/>
            </a:avLst>
          </a:prstGeom>
          <a:solidFill>
            <a:srgbClr val="EDEBE3"/>
          </a:solidFill>
          <a:ln/>
        </p:spPr>
      </p:sp>
      <p:sp>
        <p:nvSpPr>
          <p:cNvPr id="22" name="Text 17"/>
          <p:cNvSpPr/>
          <p:nvPr/>
        </p:nvSpPr>
        <p:spPr>
          <a:xfrm>
            <a:off x="4852020" y="2170286"/>
            <a:ext cx="1652364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Generate Machine Code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852020" y="2681957"/>
            <a:ext cx="1652364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optimized intermediate code into binary instructions specific to the target processor architecture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752332" y="2046312"/>
            <a:ext cx="1900312" cy="1751930"/>
          </a:xfrm>
          <a:prstGeom prst="roundRect">
            <a:avLst>
              <a:gd name="adj" fmla="val 1062"/>
            </a:avLst>
          </a:prstGeom>
          <a:solidFill>
            <a:srgbClr val="EDEBE3"/>
          </a:solidFill>
          <a:ln/>
        </p:spPr>
      </p:sp>
      <p:sp>
        <p:nvSpPr>
          <p:cNvPr id="25" name="Text 20"/>
          <p:cNvSpPr/>
          <p:nvPr/>
        </p:nvSpPr>
        <p:spPr>
          <a:xfrm>
            <a:off x="6876306" y="2170286"/>
            <a:ext cx="165236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Execute Program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876306" y="2488109"/>
            <a:ext cx="1652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CPU runs the machine code — the program performs its intended function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728046" y="3937769"/>
            <a:ext cx="392459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generation is the culmination of all prior phases. Every validation, transformation, and optimization feeds into this final output — just as every ATM check leads to the dispensing of cash.</a:t>
            </a:r>
            <a:endParaRPr lang="en-US" sz="9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156D9B-2155-444C-8A21-3488A8197F80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1141DE9-A73E-4F0F-9B1C-6D1AC63CA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00" y="362857"/>
            <a:ext cx="4178515" cy="4717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F29CB0-67D1-4121-A335-034C5DF5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115" y="428171"/>
            <a:ext cx="4114800" cy="465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08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55699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Complete Flow: ATM → Compiler Phases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859334"/>
            <a:ext cx="8151763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 pipeline — from user request to final output — mirrors the compiler's phase-by-phase architecture. Each stage is dependent on the successful completion of the previous one.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67495"/>
            <a:ext cx="4075881" cy="4186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0745" y="1774403"/>
            <a:ext cx="3866629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User Request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0745" y="1990874"/>
            <a:ext cx="386662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code / ATM input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67495"/>
            <a:ext cx="4075881" cy="4186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76626" y="1774403"/>
            <a:ext cx="3866629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Lexical Analysis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76626" y="1990874"/>
            <a:ext cx="386662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Recognize inputs as tokens</a:t>
            </a:r>
            <a:endParaRPr lang="en-US" sz="8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249909"/>
            <a:ext cx="4075881" cy="41865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0745" y="2756818"/>
            <a:ext cx="3866629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Syntax Analysis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00745" y="2973288"/>
            <a:ext cx="386662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correct order</a:t>
            </a:r>
            <a:endParaRPr lang="en-US" sz="8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249909"/>
            <a:ext cx="4075881" cy="41865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76626" y="2756818"/>
            <a:ext cx="3866629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Semantic Analysis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676626" y="2973288"/>
            <a:ext cx="3866629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validity and meaning</a:t>
            </a:r>
            <a:endParaRPr lang="en-US" sz="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331666"/>
            <a:ext cx="2717229" cy="41865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00745" y="3838575"/>
            <a:ext cx="250797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Intermediate Processing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00745" y="4055046"/>
            <a:ext cx="250797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 internal instructions</a:t>
            </a:r>
            <a:endParaRPr lang="en-US" sz="8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13348" y="3331666"/>
            <a:ext cx="2717229" cy="41865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317974" y="3838575"/>
            <a:ext cx="250797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3317974" y="4055046"/>
            <a:ext cx="250797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extra/redundant steps</a:t>
            </a:r>
            <a:endParaRPr lang="en-US" sz="8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0578" y="3331666"/>
            <a:ext cx="2717229" cy="41865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035204" y="3838575"/>
            <a:ext cx="250797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Code Generation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6035204" y="4055046"/>
            <a:ext cx="2507977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Dispense cash / execute program</a:t>
            </a:r>
            <a:endParaRPr lang="en-US" sz="800" dirty="0"/>
          </a:p>
        </p:txBody>
      </p:sp>
      <p:sp>
        <p:nvSpPr>
          <p:cNvPr id="25" name="Shape 16"/>
          <p:cNvSpPr/>
          <p:nvPr/>
        </p:nvSpPr>
        <p:spPr>
          <a:xfrm>
            <a:off x="496119" y="4413424"/>
            <a:ext cx="8151763" cy="374377"/>
          </a:xfrm>
          <a:prstGeom prst="roundRect">
            <a:avLst>
              <a:gd name="adj" fmla="val 4194"/>
            </a:avLst>
          </a:prstGeom>
          <a:solidFill>
            <a:srgbClr val="E3E3E8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745" y="4557340"/>
            <a:ext cx="130820" cy="10462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36191" y="4527798"/>
            <a:ext cx="816426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output of one phase becomes the input to the next — a clean, sequential pipeline with no phase skipped.</a:t>
            </a:r>
            <a:endParaRPr lang="en-US" sz="8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4062AD-D366-40AB-84CE-D616F347A83C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686" y="291392"/>
            <a:ext cx="815176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66541"/>
            <a:ext cx="8151763" cy="883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as a compiler converts a program into machine code through several phases, an ATM processes a user's request step by step before dispensing cash. The analogy is not merely illustrative — it is structurally accurate at every stage.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2775" y="1931120"/>
            <a:ext cx="2679948" cy="1198587"/>
          </a:xfrm>
          <a:prstGeom prst="roundRect">
            <a:avLst>
              <a:gd name="adj" fmla="val 2259"/>
            </a:avLst>
          </a:prstGeom>
          <a:solidFill>
            <a:srgbClr val="EDEBE3"/>
          </a:solidFill>
          <a:ln/>
        </p:spPr>
      </p:sp>
      <p:sp>
        <p:nvSpPr>
          <p:cNvPr id="5" name="Text 3"/>
          <p:cNvSpPr/>
          <p:nvPr/>
        </p:nvSpPr>
        <p:spPr>
          <a:xfrm>
            <a:off x="579462" y="1092398"/>
            <a:ext cx="2513261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9462" y="1256184"/>
            <a:ext cx="2513261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9265" y="1920925"/>
            <a:ext cx="2616278" cy="1198587"/>
          </a:xfrm>
          <a:prstGeom prst="roundRect">
            <a:avLst>
              <a:gd name="adj" fmla="val 2259"/>
            </a:avLst>
          </a:prstGeom>
          <a:solidFill>
            <a:srgbClr val="EDEBE3"/>
          </a:solidFill>
          <a:ln/>
        </p:spPr>
      </p:sp>
      <p:sp>
        <p:nvSpPr>
          <p:cNvPr id="10" name="Shape 8"/>
          <p:cNvSpPr/>
          <p:nvPr/>
        </p:nvSpPr>
        <p:spPr>
          <a:xfrm>
            <a:off x="6025059" y="1931120"/>
            <a:ext cx="2679948" cy="1198587"/>
          </a:xfrm>
          <a:prstGeom prst="roundRect">
            <a:avLst>
              <a:gd name="adj" fmla="val 2259"/>
            </a:avLst>
          </a:prstGeom>
          <a:solidFill>
            <a:srgbClr val="EDEBE3"/>
          </a:solidFill>
          <a:ln/>
        </p:spPr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FBE973BD-A2A3-4C8A-BE69-C347B9818442}"/>
              </a:ext>
            </a:extLst>
          </p:cNvPr>
          <p:cNvSpPr/>
          <p:nvPr/>
        </p:nvSpPr>
        <p:spPr>
          <a:xfrm>
            <a:off x="579462" y="2122513"/>
            <a:ext cx="2513261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Phase-Specific Tasks</a:t>
            </a:r>
            <a:endParaRPr lang="en-US" sz="100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FF428A17-D57C-4E9E-891B-BA77A189A161}"/>
              </a:ext>
            </a:extLst>
          </p:cNvPr>
          <p:cNvSpPr/>
          <p:nvPr/>
        </p:nvSpPr>
        <p:spPr>
          <a:xfrm>
            <a:off x="579462" y="2390622"/>
            <a:ext cx="2513261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phase performs a specific task — no phase does the work of another</a:t>
            </a:r>
            <a:endParaRPr lang="en-US" sz="10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991E3686-3EE9-4C2D-9583-A2B89E997617}"/>
              </a:ext>
            </a:extLst>
          </p:cNvPr>
          <p:cNvSpPr/>
          <p:nvPr/>
        </p:nvSpPr>
        <p:spPr>
          <a:xfrm>
            <a:off x="3454672" y="2043778"/>
            <a:ext cx="2513261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Sequential Pipeline</a:t>
            </a:r>
            <a:endParaRPr lang="en-US" sz="10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66FA2024-BF01-4CF5-9AB2-55D0E55BEDBE}"/>
              </a:ext>
            </a:extLst>
          </p:cNvPr>
          <p:cNvSpPr/>
          <p:nvPr/>
        </p:nvSpPr>
        <p:spPr>
          <a:xfrm>
            <a:off x="3413477" y="2350588"/>
            <a:ext cx="2513261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output of one phase becomes the input to the next — a strict, ordered flow</a:t>
            </a:r>
            <a:endParaRPr lang="en-US" sz="1000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967845CB-4E0F-4246-ADED-A91CD087BD61}"/>
              </a:ext>
            </a:extLst>
          </p:cNvPr>
          <p:cNvSpPr/>
          <p:nvPr/>
        </p:nvSpPr>
        <p:spPr>
          <a:xfrm>
            <a:off x="6153340" y="2038051"/>
            <a:ext cx="2541109" cy="170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Accuracy &amp; Security</a:t>
            </a:r>
            <a:endParaRPr lang="en-US" sz="10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65E1219C-DF23-487E-A693-469D432D7A62}"/>
              </a:ext>
            </a:extLst>
          </p:cNvPr>
          <p:cNvSpPr/>
          <p:nvPr/>
        </p:nvSpPr>
        <p:spPr>
          <a:xfrm>
            <a:off x="6062085" y="2322645"/>
            <a:ext cx="2513261" cy="222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ensures the transaction — or program — is both accurate and secure</a:t>
            </a:r>
            <a:endParaRPr lang="en-US" sz="10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71D33F-F75C-410F-9D41-BF65C3F11C98}"/>
              </a:ext>
            </a:extLst>
          </p:cNvPr>
          <p:cNvSpPr/>
          <p:nvPr/>
        </p:nvSpPr>
        <p:spPr>
          <a:xfrm>
            <a:off x="8048171" y="4859365"/>
            <a:ext cx="1095829" cy="266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EF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1297</Words>
  <Application>Microsoft Office PowerPoint</Application>
  <PresentationFormat>On-screen Show (16:9)</PresentationFormat>
  <Paragraphs>173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DM Sans Light</vt:lpstr>
      <vt:lpstr>Twemoji Mozilla</vt:lpstr>
      <vt:lpstr>Consolas</vt:lpstr>
      <vt:lpstr>Calibri</vt:lpstr>
      <vt:lpstr>Arial</vt:lpstr>
      <vt:lpstr>Inter</vt:lpstr>
      <vt:lpstr>DM Sans Medium</vt:lpstr>
      <vt:lpstr>Inter Bold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ACER</cp:lastModifiedBy>
  <cp:revision>11</cp:revision>
  <dcterms:created xsi:type="dcterms:W3CDTF">2026-07-28T03:02:00Z</dcterms:created>
  <dcterms:modified xsi:type="dcterms:W3CDTF">2026-07-28T09:23:49Z</dcterms:modified>
</cp:coreProperties>
</file>