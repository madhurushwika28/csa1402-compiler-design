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804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exi_lef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18288"/>
            <a:ext cx="1234440" cy="952282"/>
          </a:xfrm>
          <a:prstGeom prst="rect">
            <a:avLst/>
          </a:prstGeom>
        </p:spPr>
      </p:pic>
      <p:pic>
        <p:nvPicPr>
          <p:cNvPr id="3" name="Picture 2" descr="lexi_righ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18288"/>
            <a:ext cx="1143000" cy="91586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0" y="438912"/>
            <a:ext cx="8503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 i="0">
                <a:solidFill>
                  <a:srgbClr val="141414"/>
                </a:solidFill>
                <a:latin typeface="Times New Roman"/>
              </a:rPr>
              <a:t>SIMATS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749808"/>
            <a:ext cx="9509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141414"/>
                </a:solidFill>
                <a:latin typeface="Times New Roman"/>
              </a:rPr>
              <a:t>SAVEETHA INSTITUTE OF MEDICAL AND TECHNICAL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353312"/>
            <a:ext cx="8503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0" i="0">
                <a:solidFill>
                  <a:srgbClr val="00AAEB"/>
                </a:solidFill>
                <a:latin typeface="Times New Roman"/>
              </a:rPr>
              <a:t>CAPSTONE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029968"/>
            <a:ext cx="83210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i="0">
                <a:solidFill>
                  <a:srgbClr val="141414"/>
                </a:solidFill>
                <a:latin typeface="Times New Roman"/>
              </a:rPr>
              <a:t>CSA1602 – COMPILER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97480"/>
            <a:ext cx="102870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 i="0">
                <a:solidFill>
                  <a:srgbClr val="141414"/>
                </a:solidFill>
                <a:latin typeface="Times New Roman"/>
              </a:rPr>
              <a:t>LEXI-Farm: AI-Based Smart Farming Application with
Compiler Optimization Using Constant Folding and Dead Code Elimination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800600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141414"/>
                </a:solidFill>
                <a:latin typeface="Times New Roman"/>
              </a:rPr>
              <a:t>Guided By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138928"/>
            <a:ext cx="2651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IN" sz="1500" b="1" dirty="0">
                <a:solidFill>
                  <a:srgbClr val="141414"/>
                </a:solidFill>
                <a:latin typeface="Times New Roman"/>
              </a:rPr>
              <a:t>Dr N Deepa</a:t>
            </a:r>
            <a:endParaRPr sz="1500" b="1" i="0" dirty="0">
              <a:solidFill>
                <a:srgbClr val="141414"/>
              </a:solidFill>
              <a:latin typeface="Times New Roman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66760" y="4800600"/>
            <a:ext cx="2743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141414"/>
                </a:solidFill>
                <a:latin typeface="Times New Roman"/>
              </a:rPr>
              <a:t>Presented By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5098780"/>
            <a:ext cx="3429000" cy="738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 dirty="0">
                <a:solidFill>
                  <a:srgbClr val="141414"/>
                </a:solidFill>
                <a:latin typeface="Times New Roman"/>
              </a:rPr>
              <a:t>192324281 – R. MONIKA
</a:t>
            </a:r>
            <a:r>
              <a:rPr lang="en-IN" sz="1400" b="1" i="0" dirty="0">
                <a:solidFill>
                  <a:srgbClr val="141414"/>
                </a:solidFill>
                <a:latin typeface="Times New Roman"/>
              </a:rPr>
              <a:t>192365019-M. NIHARIKA</a:t>
            </a:r>
          </a:p>
          <a:p>
            <a:pPr algn="ctr"/>
            <a:r>
              <a:rPr lang="en-IN" sz="1400" b="1" dirty="0">
                <a:solidFill>
                  <a:srgbClr val="141414"/>
                </a:solidFill>
                <a:latin typeface="Times New Roman"/>
              </a:rPr>
              <a:t>192371066 – M. MADHU RUSHWIKA</a:t>
            </a:r>
            <a:endParaRPr sz="1400" b="1" i="0" dirty="0">
              <a:solidFill>
                <a:srgbClr val="141414"/>
              </a:solidFill>
              <a:latin typeface="Times New Roman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40680" y="6263640"/>
            <a:ext cx="12801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>
                <a:solidFill>
                  <a:srgbClr val="5A5A5A"/>
                </a:solidFill>
                <a:latin typeface="Times New Roman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exi_lef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18288"/>
            <a:ext cx="1051560" cy="811203"/>
          </a:xfrm>
          <a:prstGeom prst="rect">
            <a:avLst/>
          </a:prstGeom>
        </p:spPr>
      </p:pic>
      <p:pic>
        <p:nvPicPr>
          <p:cNvPr id="3" name="Picture 2" descr="lexi_righ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18288"/>
            <a:ext cx="1124712" cy="9012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0" y="73152"/>
            <a:ext cx="8503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141414"/>
                </a:solidFill>
                <a:latin typeface="Times New Roman"/>
              </a:rPr>
              <a:t>SIMATS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329184"/>
            <a:ext cx="9326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141414"/>
                </a:solidFill>
                <a:latin typeface="Times New Roman"/>
              </a:rPr>
              <a:t>SAVEETHA INSTITUTE OF MEDICAL AND TECHNICAL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713232"/>
            <a:ext cx="101498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 i="0">
                <a:solidFill>
                  <a:srgbClr val="00AAEB"/>
                </a:solidFill>
                <a:latin typeface="Times New Roman"/>
              </a:rPr>
              <a:t>INTRODUCTION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70432"/>
            <a:ext cx="11201400" cy="13716"/>
          </a:xfrm>
          <a:prstGeom prst="rect">
            <a:avLst/>
          </a:prstGeom>
          <a:solidFill>
            <a:srgbClr val="00AA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 i="0">
                <a:solidFill>
                  <a:srgbClr val="5A5A5A"/>
                </a:solidFill>
                <a:latin typeface="Times New Roman"/>
              </a:rP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64234"/>
            <a:ext cx="5394960" cy="4343400"/>
          </a:xfrm>
          <a:prstGeom prst="roundRect">
            <a:avLst/>
          </a:prstGeom>
          <a:solidFill>
            <a:srgbClr val="E8F6EA"/>
          </a:solidFill>
          <a:ln w="12700">
            <a:solidFill>
              <a:srgbClr val="3A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508760"/>
            <a:ext cx="5120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00AAEB"/>
                </a:solidFill>
                <a:latin typeface="Times New Roman"/>
              </a:rPr>
              <a:t>Why Smart Farming?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920240"/>
            <a:ext cx="489204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41414"/>
                </a:solidFill>
                <a:latin typeface="Times New Roman"/>
              </a:defRPr>
            </a:pPr>
            <a:r>
              <a:t>Modern agriculture generates large volumes of soil, weather and crop data.</a:t>
            </a:r>
          </a:p>
          <a:p>
            <a:pPr>
              <a:spcAft>
                <a:spcPts val="400"/>
              </a:spcAft>
              <a:defRPr sz="1600">
                <a:solidFill>
                  <a:srgbClr val="141414"/>
                </a:solidFill>
                <a:latin typeface="Times New Roman"/>
              </a:defRPr>
            </a:pPr>
            <a:r>
              <a:t>Farmers need timely decisions for crop selection, irrigation and yield planning.</a:t>
            </a:r>
          </a:p>
          <a:p>
            <a:pPr>
              <a:spcAft>
                <a:spcPts val="400"/>
              </a:spcAft>
              <a:defRPr sz="1600">
                <a:solidFill>
                  <a:srgbClr val="141414"/>
                </a:solidFill>
                <a:latin typeface="Times New Roman"/>
              </a:defRPr>
            </a:pPr>
            <a:r>
              <a:t>AI/ML can convert agricultural parameters into actionable recommendations.</a:t>
            </a:r>
          </a:p>
          <a:p>
            <a:pPr>
              <a:spcAft>
                <a:spcPts val="400"/>
              </a:spcAft>
              <a:defRPr sz="1600">
                <a:solidFill>
                  <a:srgbClr val="141414"/>
                </a:solidFill>
                <a:latin typeface="Times New Roman"/>
              </a:defRPr>
            </a:pPr>
            <a:r>
              <a:t>Smart-farming applications also need efficient decision-making software.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303528"/>
            <a:ext cx="5394960" cy="4343400"/>
          </a:xfrm>
          <a:prstGeom prst="roundRect">
            <a:avLst/>
          </a:prstGeom>
          <a:solidFill>
            <a:srgbClr val="EBF8FD"/>
          </a:solidFill>
          <a:ln w="12700">
            <a:solidFill>
              <a:srgbClr val="00A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80" y="1508760"/>
            <a:ext cx="5120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00AAEB"/>
                </a:solidFill>
                <a:latin typeface="Times New Roman"/>
              </a:rPr>
              <a:t>LEXI-Farm Approach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920240"/>
            <a:ext cx="489204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41414"/>
                </a:solidFill>
                <a:latin typeface="Times New Roman"/>
              </a:defRPr>
            </a:pPr>
            <a:r>
              <a:t>Module 1 analyzes farmer and environmental inputs using AI/ML logic.</a:t>
            </a:r>
          </a:p>
          <a:p>
            <a:pPr>
              <a:spcAft>
                <a:spcPts val="400"/>
              </a:spcAft>
              <a:defRPr sz="1600">
                <a:solidFill>
                  <a:srgbClr val="141414"/>
                </a:solidFill>
                <a:latin typeface="Times New Roman"/>
              </a:defRPr>
            </a:pPr>
            <a:r>
              <a:t>The recommendation is converted into farming decision code.</a:t>
            </a:r>
          </a:p>
          <a:p>
            <a:pPr>
              <a:spcAft>
                <a:spcPts val="400"/>
              </a:spcAft>
              <a:defRPr sz="1600">
                <a:solidFill>
                  <a:srgbClr val="141414"/>
                </a:solidFill>
                <a:latin typeface="Times New Roman"/>
              </a:defRPr>
            </a:pPr>
            <a:r>
              <a:t>Module 2 applies Constant Folding and Dead Code Elimination.</a:t>
            </a:r>
          </a:p>
          <a:p>
            <a:pPr>
              <a:spcAft>
                <a:spcPts val="400"/>
              </a:spcAft>
              <a:defRPr sz="1600">
                <a:solidFill>
                  <a:srgbClr val="141414"/>
                </a:solidFill>
                <a:latin typeface="Times New Roman"/>
              </a:defRPr>
            </a:pPr>
            <a:r>
              <a:t>Module 3 compares original and optimized code and reports performance.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897880"/>
            <a:ext cx="85953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3A873E"/>
                </a:solidFill>
                <a:latin typeface="Times New Roman"/>
              </a:rPr>
              <a:t>Core idea:  Predict  →  Generate  →  Optimize  →  Analyze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exi_lef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18288"/>
            <a:ext cx="1051560" cy="811203"/>
          </a:xfrm>
          <a:prstGeom prst="rect">
            <a:avLst/>
          </a:prstGeom>
        </p:spPr>
      </p:pic>
      <p:pic>
        <p:nvPicPr>
          <p:cNvPr id="3" name="Picture 2" descr="lexi_righ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18288"/>
            <a:ext cx="1124712" cy="9012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0" y="73152"/>
            <a:ext cx="8503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141414"/>
                </a:solidFill>
                <a:latin typeface="Times New Roman"/>
              </a:rPr>
              <a:t>SIMATS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329184"/>
            <a:ext cx="9326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141414"/>
                </a:solidFill>
                <a:latin typeface="Times New Roman"/>
              </a:rPr>
              <a:t>SAVEETHA INSTITUTE OF MEDICAL AND TECHNICAL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713232"/>
            <a:ext cx="101498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 i="0">
                <a:solidFill>
                  <a:srgbClr val="00AAEB"/>
                </a:solidFill>
                <a:latin typeface="Times New Roman"/>
              </a:rPr>
              <a:t>PROBLEM STATEMENT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70432"/>
            <a:ext cx="11201400" cy="13716"/>
          </a:xfrm>
          <a:prstGeom prst="rect">
            <a:avLst/>
          </a:prstGeom>
          <a:solidFill>
            <a:srgbClr val="00AA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 i="0">
                <a:solidFill>
                  <a:srgbClr val="5A5A5A"/>
                </a:solidFill>
                <a:latin typeface="Times New Roman"/>
              </a:rPr>
              <a:t>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32412"/>
            <a:ext cx="54406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B9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1508760"/>
            <a:ext cx="5166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 dirty="0">
                <a:solidFill>
                  <a:srgbClr val="00AAEB"/>
                </a:solidFill>
                <a:latin typeface="Times New Roman"/>
              </a:rPr>
              <a:t>Existing Challenges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874519"/>
            <a:ext cx="4937760" cy="3611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41414"/>
                </a:solidFill>
                <a:latin typeface="Times New Roman"/>
              </a:defRPr>
            </a:pPr>
            <a:r>
              <a:t>Manual farming decisions may not fully use available soil and environmental data.</a:t>
            </a:r>
          </a:p>
          <a:p>
            <a:pPr>
              <a:spcAft>
                <a:spcPts val="400"/>
              </a:spcAft>
              <a:defRPr sz="1500">
                <a:solidFill>
                  <a:srgbClr val="141414"/>
                </a:solidFill>
                <a:latin typeface="Times New Roman"/>
              </a:defRPr>
            </a:pPr>
            <a:r>
              <a:t>Selecting suitable crops and irrigation levels from multiple parameters is difficult.</a:t>
            </a:r>
          </a:p>
          <a:p>
            <a:pPr>
              <a:spcAft>
                <a:spcPts val="400"/>
              </a:spcAft>
              <a:defRPr sz="1500">
                <a:solidFill>
                  <a:srgbClr val="141414"/>
                </a:solidFill>
                <a:latin typeface="Times New Roman"/>
              </a:defRPr>
            </a:pPr>
            <a:r>
              <a:t>AI-generated decisions must be converted into executable application logic.</a:t>
            </a:r>
          </a:p>
          <a:p>
            <a:pPr>
              <a:spcAft>
                <a:spcPts val="400"/>
              </a:spcAft>
              <a:defRPr sz="1500">
                <a:solidFill>
                  <a:srgbClr val="141414"/>
                </a:solidFill>
                <a:latin typeface="Times New Roman"/>
              </a:defRPr>
            </a:pPr>
            <a:r>
              <a:t>Generated decision code may contain constant expressions and unused statements.</a:t>
            </a:r>
          </a:p>
          <a:p>
            <a:pPr>
              <a:spcAft>
                <a:spcPts val="400"/>
              </a:spcAft>
              <a:defRPr sz="1500">
                <a:solidFill>
                  <a:srgbClr val="141414"/>
                </a:solidFill>
                <a:latin typeface="Times New Roman"/>
              </a:defRPr>
            </a:pPr>
            <a:r>
              <a:t>Unnecessary operations can increase code size and runtime work, especially on edge/IoT devices.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1306161"/>
            <a:ext cx="5394960" cy="4389120"/>
          </a:xfrm>
          <a:prstGeom prst="roundRect">
            <a:avLst/>
          </a:prstGeom>
          <a:solidFill>
            <a:srgbClr val="E8F6EA"/>
          </a:solidFill>
          <a:ln w="12700">
            <a:solidFill>
              <a:srgbClr val="3A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9360" y="1508760"/>
            <a:ext cx="5120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00AAEB"/>
                </a:solidFill>
                <a:latin typeface="Times New Roman"/>
              </a:rPr>
              <a:t>Proposed Solution – LEXI-Farm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74519"/>
            <a:ext cx="4892040" cy="3611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41414"/>
                </a:solidFill>
                <a:latin typeface="Times New Roman"/>
              </a:defRPr>
            </a:pPr>
            <a:r>
              <a:t>Use AI/ML-style analysis to recommend suitable crops and farming actions.</a:t>
            </a:r>
          </a:p>
          <a:p>
            <a:pPr>
              <a:spcAft>
                <a:spcPts val="400"/>
              </a:spcAft>
              <a:defRPr sz="1500">
                <a:solidFill>
                  <a:srgbClr val="141414"/>
                </a:solidFill>
                <a:latin typeface="Times New Roman"/>
              </a:defRPr>
            </a:pPr>
            <a:r>
              <a:t>Generate farming decision logic from the recommendation.</a:t>
            </a:r>
          </a:p>
          <a:p>
            <a:pPr>
              <a:spcAft>
                <a:spcPts val="400"/>
              </a:spcAft>
              <a:defRPr sz="1500">
                <a:solidFill>
                  <a:srgbClr val="141414"/>
                </a:solidFill>
                <a:latin typeface="Times New Roman"/>
              </a:defRPr>
            </a:pPr>
            <a:r>
              <a:t>Optimize the generated logic using Constant Folding.</a:t>
            </a:r>
          </a:p>
          <a:p>
            <a:pPr>
              <a:spcAft>
                <a:spcPts val="400"/>
              </a:spcAft>
              <a:defRPr sz="1500">
                <a:solidFill>
                  <a:srgbClr val="141414"/>
                </a:solidFill>
                <a:latin typeface="Times New Roman"/>
              </a:defRPr>
            </a:pPr>
            <a:r>
              <a:t>Remove unused statements using Dead Code Elimination.</a:t>
            </a:r>
          </a:p>
          <a:p>
            <a:pPr>
              <a:spcAft>
                <a:spcPts val="400"/>
              </a:spcAft>
              <a:defRPr sz="1500">
                <a:solidFill>
                  <a:srgbClr val="141414"/>
                </a:solidFill>
                <a:latin typeface="Times New Roman"/>
              </a:defRPr>
            </a:pPr>
            <a:r>
              <a:t>Measure code reduction and optimization results in a final performance dashboard.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989320"/>
            <a:ext cx="8595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00AAEB"/>
                </a:solidFill>
                <a:latin typeface="Times New Roman"/>
              </a:rPr>
              <a:t>Problem → Intelligent Recommendation → Efficient Decision Logic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exi_lef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18288"/>
            <a:ext cx="1051560" cy="811203"/>
          </a:xfrm>
          <a:prstGeom prst="rect">
            <a:avLst/>
          </a:prstGeom>
        </p:spPr>
      </p:pic>
      <p:pic>
        <p:nvPicPr>
          <p:cNvPr id="3" name="Picture 2" descr="lexi_righ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18288"/>
            <a:ext cx="1124712" cy="9012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0" y="73152"/>
            <a:ext cx="8503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141414"/>
                </a:solidFill>
                <a:latin typeface="Times New Roman"/>
              </a:rPr>
              <a:t>SIMATS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329184"/>
            <a:ext cx="9326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141414"/>
                </a:solidFill>
                <a:latin typeface="Times New Roman"/>
              </a:rPr>
              <a:t>SAVEETHA INSTITUTE OF MEDICAL AND TECHNICAL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713232"/>
            <a:ext cx="101498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 i="0">
                <a:solidFill>
                  <a:srgbClr val="00AAEB"/>
                </a:solidFill>
                <a:latin typeface="Times New Roman"/>
              </a:rPr>
              <a:t>LITERATURE REVIEW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70432"/>
            <a:ext cx="11201400" cy="13716"/>
          </a:xfrm>
          <a:prstGeom prst="rect">
            <a:avLst/>
          </a:prstGeom>
          <a:solidFill>
            <a:srgbClr val="00AA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 i="0">
                <a:solidFill>
                  <a:srgbClr val="5A5A5A"/>
                </a:solidFill>
                <a:latin typeface="Times New Roman"/>
              </a:rPr>
              <a:t>04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" y="1417320"/>
          <a:ext cx="1133856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03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96112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Study / Year</a:t>
                      </a:r>
                    </a:p>
                  </a:txBody>
                  <a:tcPr>
                    <a:solidFill>
                      <a:srgbClr val="00AA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Focus</a:t>
                      </a:r>
                    </a:p>
                  </a:txBody>
                  <a:tcPr>
                    <a:solidFill>
                      <a:srgbClr val="00AA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Key Contribution</a:t>
                      </a:r>
                    </a:p>
                  </a:txBody>
                  <a:tcPr>
                    <a:solidFill>
                      <a:srgbClr val="00AA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Relevance / Gap</a:t>
                      </a:r>
                    </a:p>
                  </a:txBody>
                  <a:tcPr>
                    <a:solidFill>
                      <a:srgbClr val="00A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41414"/>
                          </a:solidFill>
                          <a:latin typeface="Times New Roman"/>
                        </a:rPr>
                        <a:t>Wolfert et al. (2017)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41414"/>
                          </a:solidFill>
                          <a:latin typeface="Times New Roman"/>
                        </a:rPr>
                        <a:t>Big Data in Smart Farming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41414"/>
                          </a:solidFill>
                          <a:latin typeface="Times New Roman"/>
                        </a:rPr>
                        <a:t>Reviewed data-driven agriculture and the role of analytics in farm decision-making.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41414"/>
                          </a:solidFill>
                          <a:latin typeface="Times New Roman"/>
                        </a:rPr>
                        <a:t>Supports the smart-farming data layer.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41414"/>
                          </a:solidFill>
                          <a:latin typeface="Times New Roman"/>
                        </a:rPr>
                        <a:t>Liakos et al. (2018)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41414"/>
                          </a:solidFill>
                          <a:latin typeface="Times New Roman"/>
                        </a:rPr>
                        <a:t>Machine Learning in Agriculture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41414"/>
                          </a:solidFill>
                          <a:latin typeface="Times New Roman"/>
                        </a:rPr>
                        <a:t>Surveyed ML applications for crop, soil, disease and yield-related tasks.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41414"/>
                          </a:solidFill>
                          <a:latin typeface="Times New Roman"/>
                        </a:rPr>
                        <a:t>Supports AI-based recommendation.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41414"/>
                          </a:solidFill>
                          <a:latin typeface="Times New Roman"/>
                        </a:rPr>
                        <a:t>Kamilaris &amp; Prenafeta-Boldú (2018)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41414"/>
                          </a:solidFill>
                          <a:latin typeface="Times New Roman"/>
                        </a:rPr>
                        <a:t>Deep Learning in Agriculture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41414"/>
                          </a:solidFill>
                          <a:latin typeface="Times New Roman"/>
                        </a:rPr>
                        <a:t>Reviewed deep-learning methods for agricultural image and data analysis.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41414"/>
                          </a:solidFill>
                          <a:latin typeface="Times New Roman"/>
                        </a:rPr>
                        <a:t>Shows scope for future disease/vision modules.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41414"/>
                          </a:solidFill>
                          <a:latin typeface="Times New Roman"/>
                        </a:rPr>
                        <a:t>Aho et al. (2006); Cooper &amp; Torczon (2011)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41414"/>
                          </a:solidFill>
                          <a:latin typeface="Times New Roman"/>
                        </a:rPr>
                        <a:t>Compiler Optimization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41414"/>
                          </a:solidFill>
                          <a:latin typeface="Times New Roman"/>
                        </a:rPr>
                        <a:t>Established compiler analysis and optimization concepts used to improve generated code.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41414"/>
                          </a:solidFill>
                          <a:latin typeface="Times New Roman"/>
                        </a:rPr>
                        <a:t>Motivates Constant Folding and Dead Code Elimination.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exi_lef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18288"/>
            <a:ext cx="1051560" cy="811203"/>
          </a:xfrm>
          <a:prstGeom prst="rect">
            <a:avLst/>
          </a:prstGeom>
        </p:spPr>
      </p:pic>
      <p:pic>
        <p:nvPicPr>
          <p:cNvPr id="3" name="Picture 2" descr="lexi_righ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18288"/>
            <a:ext cx="1124712" cy="9012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0" y="73152"/>
            <a:ext cx="8503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141414"/>
                </a:solidFill>
                <a:latin typeface="Times New Roman"/>
              </a:rPr>
              <a:t>SIMATS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329184"/>
            <a:ext cx="9326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141414"/>
                </a:solidFill>
                <a:latin typeface="Times New Roman"/>
              </a:rPr>
              <a:t>SAVEETHA INSTITUTE OF MEDICAL AND TECHNICAL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713232"/>
            <a:ext cx="101498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 i="0">
                <a:solidFill>
                  <a:srgbClr val="00AAEB"/>
                </a:solidFill>
                <a:latin typeface="Times New Roman"/>
              </a:rPr>
              <a:t>SYSTEM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70432"/>
            <a:ext cx="11201400" cy="13716"/>
          </a:xfrm>
          <a:prstGeom prst="rect">
            <a:avLst/>
          </a:prstGeom>
          <a:solidFill>
            <a:srgbClr val="00AA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 i="0">
                <a:solidFill>
                  <a:srgbClr val="5A5A5A"/>
                </a:solidFill>
                <a:latin typeface="Times New Roman"/>
              </a:rPr>
              <a:t>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2148840" cy="1051560"/>
          </a:xfrm>
          <a:prstGeom prst="roundRect">
            <a:avLst/>
          </a:prstGeom>
          <a:solidFill>
            <a:srgbClr val="E8F6EA"/>
          </a:solidFill>
          <a:ln w="19050">
            <a:solidFill>
              <a:srgbClr val="3A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6072" y="1463040"/>
            <a:ext cx="2002536" cy="9601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 i="0">
                <a:solidFill>
                  <a:srgbClr val="141414"/>
                </a:solidFill>
                <a:latin typeface="Times New Roman"/>
              </a:rPr>
              <a:t>FARMER INPUT
N, P, K, pH, Temperature,
Humidity, Rainfall, Moisture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1938528"/>
            <a:ext cx="502920" cy="0"/>
          </a:xfrm>
          <a:prstGeom prst="line">
            <a:avLst/>
          </a:prstGeom>
          <a:ln w="27940">
            <a:solidFill>
              <a:srgbClr val="00AA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154680" y="1417320"/>
            <a:ext cx="1828800" cy="1051560"/>
          </a:xfrm>
          <a:prstGeom prst="roundRect">
            <a:avLst/>
          </a:prstGeom>
          <a:solidFill>
            <a:srgbClr val="EBF8FD"/>
          </a:solidFill>
          <a:ln w="19050">
            <a:solidFill>
              <a:srgbClr val="00A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27832" y="1463040"/>
            <a:ext cx="1682496" cy="9601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141414"/>
                </a:solidFill>
                <a:latin typeface="Times New Roman"/>
              </a:rPr>
              <a:t>MODULE 1
AI / ML ANALYSIS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83480" y="1938528"/>
            <a:ext cx="502920" cy="0"/>
          </a:xfrm>
          <a:prstGeom prst="line">
            <a:avLst/>
          </a:prstGeom>
          <a:ln w="27940">
            <a:solidFill>
              <a:srgbClr val="00AA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486400" y="1417320"/>
            <a:ext cx="2148840" cy="1051560"/>
          </a:xfrm>
          <a:prstGeom prst="roundRect">
            <a:avLst/>
          </a:prstGeom>
          <a:solidFill>
            <a:srgbClr val="E8F6EA"/>
          </a:solidFill>
          <a:ln w="19050">
            <a:solidFill>
              <a:srgbClr val="3A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559552" y="1463040"/>
            <a:ext cx="2002536" cy="9601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 i="0">
                <a:solidFill>
                  <a:srgbClr val="141414"/>
                </a:solidFill>
                <a:latin typeface="Times New Roman"/>
              </a:rPr>
              <a:t>AI RECOMMENDATION
Crop + Confidence +
Farming Parameters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35240" y="1938528"/>
            <a:ext cx="502920" cy="0"/>
          </a:xfrm>
          <a:prstGeom prst="line">
            <a:avLst/>
          </a:prstGeom>
          <a:ln w="27940">
            <a:solidFill>
              <a:srgbClr val="00AA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138160" y="1417320"/>
            <a:ext cx="1783080" cy="1051560"/>
          </a:xfrm>
          <a:prstGeom prst="roundRect">
            <a:avLst/>
          </a:prstGeom>
          <a:solidFill>
            <a:srgbClr val="EBF8FD"/>
          </a:solidFill>
          <a:ln w="19050">
            <a:solidFill>
              <a:srgbClr val="00A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11312" y="1463040"/>
            <a:ext cx="1636776" cy="9601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141414"/>
                </a:solidFill>
                <a:latin typeface="Times New Roman"/>
              </a:rPr>
              <a:t>MODULE 2
CODE GENERATION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921240" y="1938528"/>
            <a:ext cx="502920" cy="0"/>
          </a:xfrm>
          <a:prstGeom prst="line">
            <a:avLst/>
          </a:prstGeom>
          <a:ln w="27940">
            <a:solidFill>
              <a:srgbClr val="00AA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0424160" y="1417320"/>
            <a:ext cx="1234440" cy="1051560"/>
          </a:xfrm>
          <a:prstGeom prst="roundRect">
            <a:avLst/>
          </a:prstGeom>
          <a:solidFill>
            <a:srgbClr val="E8F6EA"/>
          </a:solidFill>
          <a:ln w="19050">
            <a:solidFill>
              <a:srgbClr val="3A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497312" y="1463040"/>
            <a:ext cx="1088136" cy="9601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141414"/>
                </a:solidFill>
                <a:latin typeface="Times New Roman"/>
              </a:rPr>
              <a:t>FARMING
DECISION CODE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86200" y="2788920"/>
            <a:ext cx="4434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00AAEB"/>
                </a:solidFill>
                <a:latin typeface="Times New Roman"/>
              </a:rPr>
              <a:t>COMPILER OPTIMIZATION PIPELINE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3337560"/>
            <a:ext cx="1325880" cy="777240"/>
          </a:xfrm>
          <a:prstGeom prst="roundRect">
            <a:avLst/>
          </a:prstGeom>
          <a:solidFill>
            <a:srgbClr val="EBF8FD"/>
          </a:solidFill>
          <a:ln w="19050">
            <a:solidFill>
              <a:srgbClr val="00A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96112" y="3383279"/>
            <a:ext cx="1179576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141414"/>
                </a:solidFill>
                <a:latin typeface="Times New Roman"/>
              </a:rPr>
              <a:t>Source Code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148840" y="3721608"/>
            <a:ext cx="320040" cy="0"/>
          </a:xfrm>
          <a:prstGeom prst="line">
            <a:avLst/>
          </a:prstGeom>
          <a:ln w="2159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2468880" y="3337560"/>
            <a:ext cx="1325880" cy="777240"/>
          </a:xfrm>
          <a:prstGeom prst="roundRect">
            <a:avLst/>
          </a:prstGeom>
          <a:solidFill>
            <a:srgbClr val="EBF8FD"/>
          </a:solidFill>
          <a:ln w="19050">
            <a:solidFill>
              <a:srgbClr val="00A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542032" y="3383279"/>
            <a:ext cx="1179576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141414"/>
                </a:solidFill>
                <a:latin typeface="Times New Roman"/>
              </a:rPr>
              <a:t>Lexical
Analysis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794760" y="3721608"/>
            <a:ext cx="320040" cy="0"/>
          </a:xfrm>
          <a:prstGeom prst="line">
            <a:avLst/>
          </a:prstGeom>
          <a:ln w="2159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4114800" y="3337560"/>
            <a:ext cx="1325880" cy="777240"/>
          </a:xfrm>
          <a:prstGeom prst="roundRect">
            <a:avLst/>
          </a:prstGeom>
          <a:solidFill>
            <a:srgbClr val="EBF8FD"/>
          </a:solidFill>
          <a:ln w="19050">
            <a:solidFill>
              <a:srgbClr val="00A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187952" y="3383279"/>
            <a:ext cx="1179576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141414"/>
                </a:solidFill>
                <a:latin typeface="Times New Roman"/>
              </a:rPr>
              <a:t>Parsing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440680" y="3721608"/>
            <a:ext cx="320040" cy="0"/>
          </a:xfrm>
          <a:prstGeom prst="line">
            <a:avLst/>
          </a:prstGeom>
          <a:ln w="2159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5760720" y="3337560"/>
            <a:ext cx="1325880" cy="777240"/>
          </a:xfrm>
          <a:prstGeom prst="roundRect">
            <a:avLst/>
          </a:prstGeom>
          <a:solidFill>
            <a:srgbClr val="EBF8FD"/>
          </a:solidFill>
          <a:ln w="19050">
            <a:solidFill>
              <a:srgbClr val="00A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833872" y="3383279"/>
            <a:ext cx="1179576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141414"/>
                </a:solidFill>
                <a:latin typeface="Times New Roman"/>
              </a:rPr>
              <a:t>AST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086600" y="3721608"/>
            <a:ext cx="320040" cy="0"/>
          </a:xfrm>
          <a:prstGeom prst="line">
            <a:avLst/>
          </a:prstGeom>
          <a:ln w="2159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7406640" y="3337560"/>
            <a:ext cx="1325880" cy="777240"/>
          </a:xfrm>
          <a:prstGeom prst="roundRect">
            <a:avLst/>
          </a:prstGeom>
          <a:solidFill>
            <a:srgbClr val="E8F6EA"/>
          </a:solidFill>
          <a:ln w="19050">
            <a:solidFill>
              <a:srgbClr val="3A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479792" y="3383279"/>
            <a:ext cx="1179576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141414"/>
                </a:solidFill>
                <a:latin typeface="Times New Roman"/>
              </a:rPr>
              <a:t>Constant
Folding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732519" y="3721608"/>
            <a:ext cx="320041" cy="0"/>
          </a:xfrm>
          <a:prstGeom prst="line">
            <a:avLst/>
          </a:prstGeom>
          <a:ln w="2159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9052560" y="3337560"/>
            <a:ext cx="1325880" cy="777240"/>
          </a:xfrm>
          <a:prstGeom prst="roundRect">
            <a:avLst/>
          </a:prstGeom>
          <a:solidFill>
            <a:srgbClr val="E8F6EA"/>
          </a:solidFill>
          <a:ln w="19050">
            <a:solidFill>
              <a:srgbClr val="3A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125712" y="3383279"/>
            <a:ext cx="1179576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141414"/>
                </a:solidFill>
                <a:latin typeface="Times New Roman"/>
              </a:rPr>
              <a:t>Dead Code
Elimination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0378440" y="3721608"/>
            <a:ext cx="320040" cy="0"/>
          </a:xfrm>
          <a:prstGeom prst="line">
            <a:avLst/>
          </a:prstGeom>
          <a:ln w="2159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10698480" y="3337560"/>
            <a:ext cx="1325880" cy="777240"/>
          </a:xfrm>
          <a:prstGeom prst="roundRect">
            <a:avLst/>
          </a:prstGeom>
          <a:solidFill>
            <a:srgbClr val="EBF8FD"/>
          </a:solidFill>
          <a:ln w="19050">
            <a:solidFill>
              <a:srgbClr val="00A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771632" y="3383279"/>
            <a:ext cx="1179576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141414"/>
                </a:solidFill>
                <a:latin typeface="Times New Roman"/>
              </a:rPr>
              <a:t>Optimized
Code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126480" y="4114800"/>
            <a:ext cx="0" cy="548640"/>
          </a:xfrm>
          <a:prstGeom prst="line">
            <a:avLst/>
          </a:prstGeom>
          <a:ln w="27940">
            <a:solidFill>
              <a:srgbClr val="3A87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2743200" y="4709160"/>
            <a:ext cx="6720840" cy="1005840"/>
          </a:xfrm>
          <a:prstGeom prst="roundRect">
            <a:avLst/>
          </a:prstGeom>
          <a:solidFill>
            <a:srgbClr val="E8F6EA"/>
          </a:solidFill>
          <a:ln w="19050">
            <a:solidFill>
              <a:srgbClr val="3A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816352" y="4754880"/>
            <a:ext cx="6574536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141414"/>
                </a:solidFill>
                <a:latin typeface="Times New Roman"/>
              </a:rPr>
              <a:t>MODULE 3
RESULT &amp; PERFORMANCE ANALYSIS
Original Code vs Optimized Code • Reduction • Optimization Status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exi_lef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18288"/>
            <a:ext cx="1051560" cy="811203"/>
          </a:xfrm>
          <a:prstGeom prst="rect">
            <a:avLst/>
          </a:prstGeom>
        </p:spPr>
      </p:pic>
      <p:pic>
        <p:nvPicPr>
          <p:cNvPr id="3" name="Picture 2" descr="lexi_righ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18288"/>
            <a:ext cx="1124712" cy="9012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0" y="73152"/>
            <a:ext cx="8503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141414"/>
                </a:solidFill>
                <a:latin typeface="Times New Roman"/>
              </a:rPr>
              <a:t>SIMATS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329184"/>
            <a:ext cx="9326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141414"/>
                </a:solidFill>
                <a:latin typeface="Times New Roman"/>
              </a:rPr>
              <a:t>SAVEETHA INSTITUTE OF MEDICAL AND TECHNICAL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713232"/>
            <a:ext cx="101498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 i="0">
                <a:solidFill>
                  <a:srgbClr val="00AAEB"/>
                </a:solidFill>
                <a:latin typeface="Times New Roman"/>
              </a:rPr>
              <a:t>MODULE 1 – FARMER INPUT &amp; AI RECOMMENDATION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70432"/>
            <a:ext cx="11201400" cy="13716"/>
          </a:xfrm>
          <a:prstGeom prst="rect">
            <a:avLst/>
          </a:prstGeom>
          <a:solidFill>
            <a:srgbClr val="00AA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 i="0">
                <a:solidFill>
                  <a:srgbClr val="5A5A5A"/>
                </a:solidFill>
                <a:latin typeface="Times New Roman"/>
              </a:rPr>
              <a:t>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71600"/>
            <a:ext cx="3520440" cy="4526280"/>
          </a:xfrm>
          <a:prstGeom prst="roundRect">
            <a:avLst/>
          </a:prstGeom>
          <a:solidFill>
            <a:srgbClr val="EBF8FD"/>
          </a:solidFill>
          <a:ln w="12700">
            <a:solidFill>
              <a:srgbClr val="00A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463040"/>
            <a:ext cx="3246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00AAEB"/>
                </a:solidFill>
                <a:latin typeface="Times New Roman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828800"/>
            <a:ext cx="297180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41414"/>
                </a:solidFill>
                <a:latin typeface="Times New Roman"/>
              </a:defRPr>
            </a:pPr>
            <a:r>
              <a:t>Nitrogen (N)</a:t>
            </a:r>
          </a:p>
          <a:p>
            <a:pPr>
              <a:spcAft>
                <a:spcPts val="400"/>
              </a:spcAft>
              <a:defRPr sz="1500">
                <a:solidFill>
                  <a:srgbClr val="141414"/>
                </a:solidFill>
                <a:latin typeface="Times New Roman"/>
              </a:defRPr>
            </a:pPr>
            <a:r>
              <a:t>Phosphorus (P)</a:t>
            </a:r>
          </a:p>
          <a:p>
            <a:pPr>
              <a:spcAft>
                <a:spcPts val="400"/>
              </a:spcAft>
              <a:defRPr sz="1500">
                <a:solidFill>
                  <a:srgbClr val="141414"/>
                </a:solidFill>
                <a:latin typeface="Times New Roman"/>
              </a:defRPr>
            </a:pPr>
            <a:r>
              <a:t>Potassium (K)</a:t>
            </a:r>
          </a:p>
          <a:p>
            <a:pPr>
              <a:spcAft>
                <a:spcPts val="400"/>
              </a:spcAft>
              <a:defRPr sz="1500">
                <a:solidFill>
                  <a:srgbClr val="141414"/>
                </a:solidFill>
                <a:latin typeface="Times New Roman"/>
              </a:defRPr>
            </a:pPr>
            <a:r>
              <a:t>Soil pH</a:t>
            </a:r>
          </a:p>
          <a:p>
            <a:pPr>
              <a:spcAft>
                <a:spcPts val="400"/>
              </a:spcAft>
              <a:defRPr sz="1500">
                <a:solidFill>
                  <a:srgbClr val="141414"/>
                </a:solidFill>
                <a:latin typeface="Times New Roman"/>
              </a:defRPr>
            </a:pPr>
            <a:r>
              <a:t>Temperature</a:t>
            </a:r>
          </a:p>
          <a:p>
            <a:pPr>
              <a:spcAft>
                <a:spcPts val="400"/>
              </a:spcAft>
              <a:defRPr sz="1500">
                <a:solidFill>
                  <a:srgbClr val="141414"/>
                </a:solidFill>
                <a:latin typeface="Times New Roman"/>
              </a:defRPr>
            </a:pPr>
            <a:r>
              <a:t>Humidity</a:t>
            </a:r>
          </a:p>
          <a:p>
            <a:pPr>
              <a:spcAft>
                <a:spcPts val="400"/>
              </a:spcAft>
              <a:defRPr sz="1500">
                <a:solidFill>
                  <a:srgbClr val="141414"/>
                </a:solidFill>
                <a:latin typeface="Times New Roman"/>
              </a:defRPr>
            </a:pPr>
            <a:r>
              <a:t>Rainfall</a:t>
            </a:r>
          </a:p>
          <a:p>
            <a:pPr>
              <a:spcAft>
                <a:spcPts val="400"/>
              </a:spcAft>
              <a:defRPr sz="1500">
                <a:solidFill>
                  <a:srgbClr val="141414"/>
                </a:solidFill>
                <a:latin typeface="Times New Roman"/>
              </a:defRPr>
            </a:pPr>
            <a:r>
              <a:t>Soil Moisture</a:t>
            </a:r>
          </a:p>
          <a:p>
            <a:pPr>
              <a:spcAft>
                <a:spcPts val="400"/>
              </a:spcAft>
              <a:defRPr sz="1500">
                <a:solidFill>
                  <a:srgbClr val="141414"/>
                </a:solidFill>
                <a:latin typeface="Times New Roman"/>
              </a:defRPr>
            </a:pPr>
            <a:r>
              <a:t>Farm Area / Location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2514600"/>
            <a:ext cx="1828800" cy="1143000"/>
          </a:xfrm>
          <a:prstGeom prst="roundRect">
            <a:avLst/>
          </a:prstGeom>
          <a:solidFill>
            <a:srgbClr val="E8F6EA"/>
          </a:solidFill>
          <a:ln w="19050">
            <a:solidFill>
              <a:srgbClr val="3A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25112" y="2560320"/>
            <a:ext cx="1682496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141414"/>
                </a:solidFill>
                <a:latin typeface="Times New Roman"/>
              </a:rPr>
              <a:t>AI / ML
PROCESSING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023360" y="3090672"/>
            <a:ext cx="228600" cy="0"/>
          </a:xfrm>
          <a:prstGeom prst="line">
            <a:avLst/>
          </a:prstGeom>
          <a:ln w="27940">
            <a:solidFill>
              <a:srgbClr val="00AA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080760" y="3090672"/>
            <a:ext cx="274320" cy="0"/>
          </a:xfrm>
          <a:prstGeom prst="line">
            <a:avLst/>
          </a:prstGeom>
          <a:ln w="27940">
            <a:solidFill>
              <a:srgbClr val="00AA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400800" y="1371600"/>
            <a:ext cx="5257800" cy="4526280"/>
          </a:xfrm>
          <a:prstGeom prst="roundRect">
            <a:avLst/>
          </a:prstGeom>
          <a:solidFill>
            <a:srgbClr val="E8F6EA"/>
          </a:solidFill>
          <a:ln w="12700">
            <a:solidFill>
              <a:srgbClr val="3A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1463040"/>
            <a:ext cx="4983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00AAEB"/>
                </a:solidFill>
                <a:latin typeface="Times New Roman"/>
              </a:rP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1874519"/>
            <a:ext cx="466344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41414"/>
                </a:solidFill>
                <a:latin typeface="Times New Roman"/>
              </a:defRPr>
            </a:pPr>
            <a:r>
              <a:t>Recommended Crop: Rice</a:t>
            </a:r>
          </a:p>
          <a:p>
            <a:pPr>
              <a:spcAft>
                <a:spcPts val="400"/>
              </a:spcAft>
              <a:defRPr sz="1500">
                <a:solidFill>
                  <a:srgbClr val="141414"/>
                </a:solidFill>
                <a:latin typeface="Times New Roman"/>
              </a:defRPr>
            </a:pPr>
            <a:r>
              <a:t>AI Confidence: 94%</a:t>
            </a:r>
          </a:p>
          <a:p>
            <a:pPr>
              <a:spcAft>
                <a:spcPts val="400"/>
              </a:spcAft>
              <a:defRPr sz="1500">
                <a:solidFill>
                  <a:srgbClr val="141414"/>
                </a:solidFill>
                <a:latin typeface="Times New Roman"/>
              </a:defRPr>
            </a:pPr>
            <a:r>
              <a:t>Expected Yield: 5.8 tons/acre</a:t>
            </a:r>
          </a:p>
          <a:p>
            <a:pPr>
              <a:spcAft>
                <a:spcPts val="400"/>
              </a:spcAft>
              <a:defRPr sz="1500">
                <a:solidFill>
                  <a:srgbClr val="141414"/>
                </a:solidFill>
                <a:latin typeface="Times New Roman"/>
              </a:defRPr>
            </a:pPr>
            <a:r>
              <a:t>Irrigation Requirement: High</a:t>
            </a:r>
          </a:p>
          <a:p>
            <a:pPr>
              <a:spcAft>
                <a:spcPts val="400"/>
              </a:spcAft>
              <a:defRPr sz="1500">
                <a:solidFill>
                  <a:srgbClr val="141414"/>
                </a:solidFill>
                <a:latin typeface="Times New Roman"/>
              </a:defRPr>
            </a:pPr>
            <a:r>
              <a:t>Water Requirement: 50 units</a:t>
            </a:r>
          </a:p>
          <a:p>
            <a:pPr>
              <a:spcAft>
                <a:spcPts val="400"/>
              </a:spcAft>
              <a:defRPr sz="1500">
                <a:solidFill>
                  <a:srgbClr val="141414"/>
                </a:solidFill>
                <a:latin typeface="Times New Roman"/>
              </a:defRPr>
            </a:pPr>
            <a:r>
              <a:t>Soil Suitability: Excellent</a:t>
            </a:r>
          </a:p>
          <a:p>
            <a:pPr>
              <a:spcAft>
                <a:spcPts val="400"/>
              </a:spcAft>
              <a:defRPr sz="1500">
                <a:solidFill>
                  <a:srgbClr val="141414"/>
                </a:solidFill>
                <a:latin typeface="Times New Roman"/>
              </a:defRPr>
            </a:pPr>
            <a:r>
              <a:t>Farming Decision: Irrigation control logic required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6080760"/>
            <a:ext cx="8595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 i="0">
                <a:solidFill>
                  <a:srgbClr val="00AAEB"/>
                </a:solidFill>
                <a:latin typeface="Times New Roman"/>
              </a:rPr>
              <a:t>MODULE 1 OUTPUT → automatically becomes MODULE 2 INPUT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exi_lef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18288"/>
            <a:ext cx="1051560" cy="811203"/>
          </a:xfrm>
          <a:prstGeom prst="rect">
            <a:avLst/>
          </a:prstGeom>
        </p:spPr>
      </p:pic>
      <p:pic>
        <p:nvPicPr>
          <p:cNvPr id="3" name="Picture 2" descr="lexi_righ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18288"/>
            <a:ext cx="1124712" cy="9012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0" y="73152"/>
            <a:ext cx="8503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141414"/>
                </a:solidFill>
                <a:latin typeface="Times New Roman"/>
              </a:rPr>
              <a:t>SIMATS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329184"/>
            <a:ext cx="9326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141414"/>
                </a:solidFill>
                <a:latin typeface="Times New Roman"/>
              </a:rPr>
              <a:t>SAVEETHA INSTITUTE OF MEDICAL AND TECHNICAL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713232"/>
            <a:ext cx="101498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 i="0">
                <a:solidFill>
                  <a:srgbClr val="00AAEB"/>
                </a:solidFill>
                <a:latin typeface="Times New Roman"/>
              </a:rPr>
              <a:t>MODULE 2 – COMPILER OPTIMIZATION ENGINE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70432"/>
            <a:ext cx="11201400" cy="13716"/>
          </a:xfrm>
          <a:prstGeom prst="rect">
            <a:avLst/>
          </a:prstGeom>
          <a:solidFill>
            <a:srgbClr val="00AA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 i="0">
                <a:solidFill>
                  <a:srgbClr val="5A5A5A"/>
                </a:solidFill>
                <a:latin typeface="Times New Roman"/>
              </a:rPr>
              <a:t>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71600"/>
            <a:ext cx="3291840" cy="4526280"/>
          </a:xfrm>
          <a:prstGeom prst="roundRect">
            <a:avLst/>
          </a:prstGeom>
          <a:solidFill>
            <a:srgbClr val="E8F6EA"/>
          </a:solidFill>
          <a:ln w="12700">
            <a:solidFill>
              <a:srgbClr val="3A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463040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00AAEB"/>
                </a:solidFill>
                <a:latin typeface="Times New Roman"/>
              </a:rPr>
              <a:t>INPUT FROM MODULE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874519"/>
            <a:ext cx="2743200" cy="3429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41414"/>
                </a:solidFill>
                <a:latin typeface="Times New Roman"/>
              </a:defRPr>
            </a:pPr>
            <a:r>
              <a:t>Recommended Crop: Rice</a:t>
            </a:r>
          </a:p>
          <a:p>
            <a:pPr>
              <a:spcAft>
                <a:spcPts val="400"/>
              </a:spcAft>
              <a:defRPr sz="1500">
                <a:solidFill>
                  <a:srgbClr val="141414"/>
                </a:solidFill>
                <a:latin typeface="Times New Roman"/>
              </a:defRPr>
            </a:pPr>
            <a:r>
              <a:t>Rainfall: 200 mm</a:t>
            </a:r>
          </a:p>
          <a:p>
            <a:pPr>
              <a:spcAft>
                <a:spcPts val="400"/>
              </a:spcAft>
              <a:defRPr sz="1500">
                <a:solidFill>
                  <a:srgbClr val="141414"/>
                </a:solidFill>
                <a:latin typeface="Times New Roman"/>
              </a:defRPr>
            </a:pPr>
            <a:r>
              <a:t>Water Requirement: 50 units</a:t>
            </a:r>
          </a:p>
          <a:p>
            <a:pPr>
              <a:spcAft>
                <a:spcPts val="400"/>
              </a:spcAft>
              <a:defRPr sz="1500">
                <a:solidFill>
                  <a:srgbClr val="141414"/>
                </a:solidFill>
                <a:latin typeface="Times New Roman"/>
              </a:defRPr>
            </a:pPr>
            <a:r>
              <a:t>Irrigation: High</a:t>
            </a:r>
          </a:p>
          <a:p>
            <a:pPr>
              <a:spcAft>
                <a:spcPts val="400"/>
              </a:spcAft>
              <a:defRPr sz="1500">
                <a:solidFill>
                  <a:srgbClr val="141414"/>
                </a:solidFill>
                <a:latin typeface="Times New Roman"/>
              </a:defRPr>
            </a:pPr>
            <a:r>
              <a:t>AI Confidence: 94%</a:t>
            </a:r>
          </a:p>
          <a:p>
            <a:pPr>
              <a:spcAft>
                <a:spcPts val="400"/>
              </a:spcAft>
              <a:defRPr sz="1500">
                <a:solidFill>
                  <a:srgbClr val="141414"/>
                </a:solidFill>
                <a:latin typeface="Times New Roman"/>
              </a:defRPr>
            </a:pPr>
            <a:r>
              <a:t>Generate farming decision code automatically.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69080" y="1371600"/>
            <a:ext cx="3749039" cy="4526280"/>
          </a:xfrm>
          <a:prstGeom prst="roundRect">
            <a:avLst/>
          </a:prstGeom>
          <a:solidFill>
            <a:srgbClr val="1E2328"/>
          </a:solidFill>
          <a:ln>
            <a:solidFill>
              <a:srgbClr val="4B5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97680" y="1572768"/>
            <a:ext cx="3291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Times New Roman"/>
              </a:rPr>
              <a:t>GENERATED FARMING 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1993392"/>
            <a:ext cx="3246120" cy="3520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onsolas"/>
              </a:rPr>
              <a:t>int rainfall = 200;
int threshold = 100 + 100;
int water = 10 * 5;
int unused = 500;
if (rainfall &gt;= threshold) {
    irrigation(water);
}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371600"/>
            <a:ext cx="3611880" cy="4526280"/>
          </a:xfrm>
          <a:prstGeom prst="roundRect">
            <a:avLst/>
          </a:prstGeom>
          <a:solidFill>
            <a:srgbClr val="EBF8FD"/>
          </a:solidFill>
          <a:ln w="12700">
            <a:solidFill>
              <a:srgbClr val="00A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80" y="1463040"/>
            <a:ext cx="3337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00AAEB"/>
                </a:solidFill>
                <a:latin typeface="Times New Roman"/>
              </a:rPr>
              <a:t>OPTIMIZATION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1874519"/>
            <a:ext cx="3017520" cy="3337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41414"/>
                </a:solidFill>
                <a:latin typeface="Times New Roman"/>
              </a:defRPr>
            </a:pPr>
            <a:r>
              <a:t>Lexical Analysis</a:t>
            </a:r>
          </a:p>
          <a:p>
            <a:pPr>
              <a:spcAft>
                <a:spcPts val="400"/>
              </a:spcAft>
              <a:defRPr sz="1500">
                <a:solidFill>
                  <a:srgbClr val="141414"/>
                </a:solidFill>
                <a:latin typeface="Times New Roman"/>
              </a:defRPr>
            </a:pPr>
            <a:r>
              <a:t>Parsing</a:t>
            </a:r>
          </a:p>
          <a:p>
            <a:pPr>
              <a:spcAft>
                <a:spcPts val="400"/>
              </a:spcAft>
              <a:defRPr sz="1500">
                <a:solidFill>
                  <a:srgbClr val="141414"/>
                </a:solidFill>
                <a:latin typeface="Times New Roman"/>
              </a:defRPr>
            </a:pPr>
            <a:r>
              <a:t>AST Generation</a:t>
            </a:r>
          </a:p>
          <a:p>
            <a:pPr>
              <a:spcAft>
                <a:spcPts val="400"/>
              </a:spcAft>
              <a:defRPr sz="1500">
                <a:solidFill>
                  <a:srgbClr val="141414"/>
                </a:solidFill>
                <a:latin typeface="Times New Roman"/>
              </a:defRPr>
            </a:pPr>
            <a:r>
              <a:t>Constant Folding</a:t>
            </a:r>
          </a:p>
          <a:p>
            <a:pPr>
              <a:spcAft>
                <a:spcPts val="400"/>
              </a:spcAft>
              <a:defRPr sz="1500">
                <a:solidFill>
                  <a:srgbClr val="141414"/>
                </a:solidFill>
                <a:latin typeface="Times New Roman"/>
              </a:defRPr>
            </a:pPr>
            <a:r>
              <a:t>Dead Code Elimination</a:t>
            </a:r>
          </a:p>
          <a:p>
            <a:pPr>
              <a:spcAft>
                <a:spcPts val="400"/>
              </a:spcAft>
              <a:defRPr sz="1500">
                <a:solidFill>
                  <a:srgbClr val="141414"/>
                </a:solidFill>
                <a:latin typeface="Times New Roman"/>
              </a:defRPr>
            </a:pPr>
            <a:r>
              <a:t>Optimized Code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6080760"/>
            <a:ext cx="10149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3A873E"/>
                </a:solidFill>
                <a:latin typeface="Times New Roman"/>
              </a:rPr>
              <a:t>100 + 100 → 200     |     10 × 5 → 50     |     unused statement → removed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exi_lef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18288"/>
            <a:ext cx="1051560" cy="811203"/>
          </a:xfrm>
          <a:prstGeom prst="rect">
            <a:avLst/>
          </a:prstGeom>
        </p:spPr>
      </p:pic>
      <p:pic>
        <p:nvPicPr>
          <p:cNvPr id="3" name="Picture 2" descr="lexi_righ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18288"/>
            <a:ext cx="1124712" cy="9012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0" y="73152"/>
            <a:ext cx="8503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141414"/>
                </a:solidFill>
                <a:latin typeface="Times New Roman"/>
              </a:rPr>
              <a:t>SIMATS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329184"/>
            <a:ext cx="9326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141414"/>
                </a:solidFill>
                <a:latin typeface="Times New Roman"/>
              </a:rPr>
              <a:t>SAVEETHA INSTITUTE OF MEDICAL AND TECHNICAL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713232"/>
            <a:ext cx="101498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 i="0">
                <a:solidFill>
                  <a:srgbClr val="00AAEB"/>
                </a:solidFill>
                <a:latin typeface="Times New Roman"/>
              </a:rPr>
              <a:t>MODULE 3 – RESULT &amp; PERFORMANCE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70432"/>
            <a:ext cx="11201400" cy="13716"/>
          </a:xfrm>
          <a:prstGeom prst="rect">
            <a:avLst/>
          </a:prstGeom>
          <a:solidFill>
            <a:srgbClr val="00AA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 i="0">
                <a:solidFill>
                  <a:srgbClr val="5A5A5A"/>
                </a:solidFill>
                <a:latin typeface="Times New Roman"/>
              </a:rPr>
              <a:t>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71600"/>
            <a:ext cx="3474720" cy="4526280"/>
          </a:xfrm>
          <a:prstGeom prst="roundRect">
            <a:avLst/>
          </a:prstGeom>
          <a:solidFill>
            <a:srgbClr val="EBF8FD"/>
          </a:solidFill>
          <a:ln w="12700">
            <a:solidFill>
              <a:srgbClr val="00A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463040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00AAEB"/>
                </a:solidFill>
                <a:latin typeface="Times New Roman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874519"/>
            <a:ext cx="292608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41414"/>
                </a:solidFill>
                <a:latin typeface="Times New Roman"/>
              </a:defRPr>
            </a:pPr>
            <a:r>
              <a:t>Module 1 AI Recommendation</a:t>
            </a:r>
          </a:p>
          <a:p>
            <a:pPr>
              <a:spcAft>
                <a:spcPts val="400"/>
              </a:spcAft>
              <a:defRPr sz="1500">
                <a:solidFill>
                  <a:srgbClr val="141414"/>
                </a:solidFill>
                <a:latin typeface="Times New Roman"/>
              </a:defRPr>
            </a:pPr>
            <a:r>
              <a:t>Original Farming Decision Code</a:t>
            </a:r>
          </a:p>
          <a:p>
            <a:pPr>
              <a:spcAft>
                <a:spcPts val="400"/>
              </a:spcAft>
              <a:defRPr sz="1500">
                <a:solidFill>
                  <a:srgbClr val="141414"/>
                </a:solidFill>
                <a:latin typeface="Times New Roman"/>
              </a:defRPr>
            </a:pPr>
            <a:r>
              <a:t>Optimized Farming Decision Code</a:t>
            </a:r>
          </a:p>
          <a:p>
            <a:pPr>
              <a:spcAft>
                <a:spcPts val="400"/>
              </a:spcAft>
              <a:defRPr sz="1500">
                <a:solidFill>
                  <a:srgbClr val="141414"/>
                </a:solidFill>
                <a:latin typeface="Times New Roman"/>
              </a:defRPr>
            </a:pPr>
            <a:r>
              <a:t>Constant Folding Count</a:t>
            </a:r>
          </a:p>
          <a:p>
            <a:pPr>
              <a:spcAft>
                <a:spcPts val="400"/>
              </a:spcAft>
              <a:defRPr sz="1500">
                <a:solidFill>
                  <a:srgbClr val="141414"/>
                </a:solidFill>
                <a:latin typeface="Times New Roman"/>
              </a:defRPr>
            </a:pPr>
            <a:r>
              <a:t>Dead Code Removal Count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1417320"/>
            <a:ext cx="3611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 i="0">
                <a:solidFill>
                  <a:srgbClr val="00AAEB"/>
                </a:solidFill>
                <a:latin typeface="Times New Roman"/>
              </a:rPr>
              <a:t>PERFORMANCE COMPARISON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965960"/>
            <a:ext cx="1417320" cy="960120"/>
          </a:xfrm>
          <a:prstGeom prst="roundRect">
            <a:avLst/>
          </a:prstGeom>
          <a:solidFill>
            <a:srgbClr val="F2F4F6"/>
          </a:solidFill>
          <a:ln w="19050">
            <a:solidFill>
              <a:srgbClr val="B9B9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16552" y="2011679"/>
            <a:ext cx="1271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141414"/>
                </a:solidFill>
                <a:latin typeface="Times New Roman"/>
              </a:rPr>
              <a:t>BEFORE
7 lines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760720" y="2441448"/>
            <a:ext cx="685800" cy="0"/>
          </a:xfrm>
          <a:prstGeom prst="line">
            <a:avLst/>
          </a:prstGeom>
          <a:ln w="27940">
            <a:solidFill>
              <a:srgbClr val="3A87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446520" y="1965960"/>
            <a:ext cx="1417320" cy="960120"/>
          </a:xfrm>
          <a:prstGeom prst="roundRect">
            <a:avLst/>
          </a:prstGeom>
          <a:solidFill>
            <a:srgbClr val="E8F6EA"/>
          </a:solidFill>
          <a:ln w="19050">
            <a:solidFill>
              <a:srgbClr val="3A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19672" y="2011679"/>
            <a:ext cx="1271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141414"/>
                </a:solidFill>
                <a:latin typeface="Times New Roman"/>
              </a:rPr>
              <a:t>AFTER
6 lines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3246120"/>
            <a:ext cx="1554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141414"/>
                </a:solidFill>
                <a:latin typeface="Times New Roman"/>
              </a:rPr>
              <a:t>Code Reduction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3566160"/>
            <a:ext cx="3383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 i="0">
                <a:solidFill>
                  <a:srgbClr val="3A873E"/>
                </a:solidFill>
                <a:latin typeface="Times New Roman"/>
              </a:rPr>
              <a:t>14.28%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160520"/>
            <a:ext cx="31546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141414"/>
                </a:solidFill>
                <a:latin typeface="Times New Roman"/>
              </a:rPr>
              <a:t>Constants Folded: 2
Dead Code Removed: 1
Status: SUCCESS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1371600"/>
            <a:ext cx="3566160" cy="4526280"/>
          </a:xfrm>
          <a:prstGeom prst="roundRect">
            <a:avLst/>
          </a:prstGeom>
          <a:solidFill>
            <a:srgbClr val="E8F6EA"/>
          </a:solidFill>
          <a:ln w="12700">
            <a:solidFill>
              <a:srgbClr val="3A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0" y="1463040"/>
            <a:ext cx="3291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00AAEB"/>
                </a:solidFill>
                <a:latin typeface="Times New Roman"/>
              </a:rPr>
              <a:t>FINAL 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1874519"/>
            <a:ext cx="297180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41414"/>
                </a:solidFill>
                <a:latin typeface="Times New Roman"/>
              </a:defRPr>
            </a:pPr>
            <a:r>
              <a:t>Crop: Rice</a:t>
            </a:r>
          </a:p>
          <a:p>
            <a:pPr>
              <a:spcAft>
                <a:spcPts val="400"/>
              </a:spcAft>
              <a:defRPr sz="1500">
                <a:solidFill>
                  <a:srgbClr val="141414"/>
                </a:solidFill>
                <a:latin typeface="Times New Roman"/>
              </a:defRPr>
            </a:pPr>
            <a:r>
              <a:t>AI Confidence: 94%</a:t>
            </a:r>
          </a:p>
          <a:p>
            <a:pPr>
              <a:spcAft>
                <a:spcPts val="400"/>
              </a:spcAft>
              <a:defRPr sz="1500">
                <a:solidFill>
                  <a:srgbClr val="141414"/>
                </a:solidFill>
                <a:latin typeface="Times New Roman"/>
              </a:defRPr>
            </a:pPr>
            <a:r>
              <a:t>Optimized Code: Generated</a:t>
            </a:r>
          </a:p>
          <a:p>
            <a:pPr>
              <a:spcAft>
                <a:spcPts val="400"/>
              </a:spcAft>
              <a:defRPr sz="1500">
                <a:solidFill>
                  <a:srgbClr val="141414"/>
                </a:solidFill>
                <a:latin typeface="Times New Roman"/>
              </a:defRPr>
            </a:pPr>
            <a:r>
              <a:t>Code Reduction: 14.28%</a:t>
            </a:r>
          </a:p>
          <a:p>
            <a:pPr>
              <a:spcAft>
                <a:spcPts val="400"/>
              </a:spcAft>
              <a:defRPr sz="1500">
                <a:solidFill>
                  <a:srgbClr val="141414"/>
                </a:solidFill>
                <a:latin typeface="Times New Roman"/>
              </a:defRPr>
            </a:pPr>
            <a:r>
              <a:t>Optimization Status: Successful</a:t>
            </a:r>
          </a:p>
          <a:p>
            <a:pPr>
              <a:spcAft>
                <a:spcPts val="400"/>
              </a:spcAft>
              <a:defRPr sz="1500">
                <a:solidFill>
                  <a:srgbClr val="141414"/>
                </a:solidFill>
                <a:latin typeface="Times New Roman"/>
              </a:defRPr>
            </a:pPr>
            <a:r>
              <a:t>Final Farming Decision: Efficient irrigation logic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6080760"/>
            <a:ext cx="8595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 i="0">
                <a:solidFill>
                  <a:srgbClr val="00AAEB"/>
                </a:solidFill>
                <a:latin typeface="Times New Roman"/>
              </a:rPr>
              <a:t>MODULE 3 produces the final integrated project result.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3EF1C4-C5C7-4F00-8F36-91C517E9E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0119" y="25686"/>
            <a:ext cx="5404207" cy="68323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F676306-FD63-4FD5-8980-33E5882EB5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15" y="3592745"/>
            <a:ext cx="6274089" cy="33474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B1CD012-F07D-42A1-9EDD-1E880BB49B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6387104" cy="3592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0640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exi_lef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18288"/>
            <a:ext cx="1051560" cy="811203"/>
          </a:xfrm>
          <a:prstGeom prst="rect">
            <a:avLst/>
          </a:prstGeom>
        </p:spPr>
      </p:pic>
      <p:pic>
        <p:nvPicPr>
          <p:cNvPr id="3" name="Picture 2" descr="lexi_righ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18288"/>
            <a:ext cx="1124712" cy="9012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0" y="73152"/>
            <a:ext cx="8503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141414"/>
                </a:solidFill>
                <a:latin typeface="Times New Roman"/>
              </a:rPr>
              <a:t>SIMATS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329184"/>
            <a:ext cx="9326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141414"/>
                </a:solidFill>
                <a:latin typeface="Times New Roman"/>
              </a:rPr>
              <a:t>SAVEETHA INSTITUTE OF MEDICAL AND TECHNICAL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713232"/>
            <a:ext cx="101498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 i="0">
                <a:solidFill>
                  <a:srgbClr val="00AAEB"/>
                </a:solidFill>
                <a:latin typeface="Times New Roman"/>
              </a:rPr>
              <a:t>CONCLUSION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80059" y="1291590"/>
            <a:ext cx="11201400" cy="13716"/>
          </a:xfrm>
          <a:prstGeom prst="rect">
            <a:avLst/>
          </a:prstGeom>
          <a:solidFill>
            <a:srgbClr val="00AA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 i="0">
                <a:solidFill>
                  <a:srgbClr val="5A5A5A"/>
                </a:solidFill>
                <a:latin typeface="Times New Roman"/>
              </a:rPr>
              <a:t>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4800" y="1595628"/>
            <a:ext cx="11308080" cy="4251960"/>
          </a:xfrm>
          <a:prstGeom prst="roundRect">
            <a:avLst/>
          </a:prstGeom>
          <a:solidFill>
            <a:srgbClr val="E8F6EA"/>
          </a:solidFill>
          <a:ln w="12700">
            <a:solidFill>
              <a:srgbClr val="3A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1508760"/>
            <a:ext cx="10698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00AAEB"/>
                </a:solidFill>
                <a:latin typeface="Times New Roman"/>
              </a:rPr>
              <a:t>LEXI-Farm – Integrated 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965960"/>
            <a:ext cx="10332720" cy="3337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41414"/>
                </a:solidFill>
                <a:latin typeface="Times New Roman"/>
              </a:defRPr>
            </a:pPr>
            <a:r>
              <a:t>LEXI-Farm integrates AI-based smart farming recommendations with compiler optimization.</a:t>
            </a:r>
          </a:p>
          <a:p>
            <a:pPr>
              <a:spcAft>
                <a:spcPts val="400"/>
              </a:spcAft>
              <a:defRPr sz="1600">
                <a:solidFill>
                  <a:srgbClr val="141414"/>
                </a:solidFill>
                <a:latin typeface="Times New Roman"/>
              </a:defRPr>
            </a:pPr>
            <a:r>
              <a:t>Module 1 transforms farmer, soil and environmental data into an actionable farming recommendation.</a:t>
            </a:r>
          </a:p>
          <a:p>
            <a:pPr>
              <a:spcAft>
                <a:spcPts val="400"/>
              </a:spcAft>
              <a:defRPr sz="1600">
                <a:solidFill>
                  <a:srgbClr val="141414"/>
                </a:solidFill>
                <a:latin typeface="Times New Roman"/>
              </a:defRPr>
            </a:pPr>
            <a:r>
              <a:t>Module 2 converts the recommendation into decision logic and optimizes it using Constant Folding and Dead Code Elimination.</a:t>
            </a:r>
          </a:p>
          <a:p>
            <a:pPr>
              <a:spcAft>
                <a:spcPts val="400"/>
              </a:spcAft>
              <a:defRPr sz="1600">
                <a:solidFill>
                  <a:srgbClr val="141414"/>
                </a:solidFill>
                <a:latin typeface="Times New Roman"/>
              </a:defRPr>
            </a:pPr>
            <a:r>
              <a:t>Module 3 compares the original and optimized code and presents measurable performance results.</a:t>
            </a:r>
          </a:p>
          <a:p>
            <a:pPr>
              <a:spcAft>
                <a:spcPts val="400"/>
              </a:spcAft>
              <a:defRPr sz="1600">
                <a:solidFill>
                  <a:srgbClr val="141414"/>
                </a:solidFill>
                <a:latin typeface="Times New Roman"/>
              </a:defRPr>
            </a:pPr>
            <a:r>
              <a:t>The architecture provides a clear connection between Artificial Intelligence, Smart Agriculture and Compiler Design.</a:t>
            </a:r>
          </a:p>
          <a:p>
            <a:pPr>
              <a:spcAft>
                <a:spcPts val="400"/>
              </a:spcAft>
              <a:defRPr sz="1600">
                <a:solidFill>
                  <a:srgbClr val="141414"/>
                </a:solidFill>
                <a:latin typeface="Times New Roman"/>
              </a:defRPr>
            </a:pPr>
            <a:r>
              <a:t>The approach can be extended to IoT sensors, edge devices, real-time farm monitoring and additional compiler optimization techniques.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5897880"/>
            <a:ext cx="795527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00AAEB"/>
                </a:solidFill>
                <a:latin typeface="Times New Roman"/>
              </a:rPr>
              <a:t>Predict  →  Optimize  →  Analyze  →  Improve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exi_lef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18288"/>
            <a:ext cx="1234440" cy="952282"/>
          </a:xfrm>
          <a:prstGeom prst="rect">
            <a:avLst/>
          </a:prstGeom>
        </p:spPr>
      </p:pic>
      <p:pic>
        <p:nvPicPr>
          <p:cNvPr id="3" name="Picture 2" descr="lexi_righ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18288"/>
            <a:ext cx="1143000" cy="91586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0" y="438912"/>
            <a:ext cx="8503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 i="0">
                <a:solidFill>
                  <a:srgbClr val="141414"/>
                </a:solidFill>
                <a:latin typeface="Times New Roman"/>
              </a:rPr>
              <a:t>SIMATS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749808"/>
            <a:ext cx="9509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141414"/>
                </a:solidFill>
                <a:latin typeface="Times New Roman"/>
              </a:rPr>
              <a:t>SAVEETHA INSTITUTE OF MEDICAL AND TECHNICAL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2757716"/>
            <a:ext cx="8503920" cy="12003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200" b="1" i="0" dirty="0">
                <a:solidFill>
                  <a:srgbClr val="00AAEB"/>
                </a:solidFill>
                <a:latin typeface="Times New Roman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996</Words>
  <Application>Microsoft Office PowerPoint</Application>
  <PresentationFormat>Widescreen</PresentationFormat>
  <Paragraphs>169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Consolas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ACER</cp:lastModifiedBy>
  <cp:revision>3</cp:revision>
  <dcterms:created xsi:type="dcterms:W3CDTF">2013-01-27T09:14:16Z</dcterms:created>
  <dcterms:modified xsi:type="dcterms:W3CDTF">2026-08-29T08:05:01Z</dcterms:modified>
  <cp:category/>
</cp:coreProperties>
</file>